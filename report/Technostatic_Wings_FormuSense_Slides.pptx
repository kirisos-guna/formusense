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1695" cy="6858000"/>
  <p:notesSz cx="6858000" cy="9144000"/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2800" b="1">
          <a:solidFill>
            <a:schemeClr val="dk2"/>
          </a:solidFill>
          <a:latin typeface="Calibri Light"/>
        </a:defRPr>
      </a:lvl1pPr>
    </p:titleStyle>
    <p:bodyStyle>
      <a:lvl1pPr marL="205740" indent="-205740">
        <a:buFont typeface="Arial"/>
        <a:buChar char="•"/>
        <a:defRPr sz="1500">
          <a:solidFill>
            <a:schemeClr val="dk2"/>
          </a:solidFill>
        </a:defRPr>
      </a:lvl1pPr>
    </p:bodyStyle>
    <p:otherStyle>
      <a:defPPr>
        <a:defRPr lang="en-US"/>
      </a:def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Bar"/>
          <p:cNvSpPr txBox="1"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F7A4D"/>
          </a:solidFill>
        </p:spPr>
        <p:txBody>
          <a:bodyPr wrap="square" lIns="109728" tIns="45720" rIns="109728" bIns="45720" anchor="t">
            <a:normAutofit/>
          </a:bodyPr>
          <a:lstStyle/>
          <a:p>
            <a:pPr>
              <a:buNone/>
            </a:pPr>
          </a:p>
        </p:txBody>
      </p:sp>
      <p:sp>
        <p:nvSpPr>
          <p:cNvPr id="3" name="Kicker"/>
          <p:cNvSpPr txBox="1"/>
          <p:nvPr/>
        </p:nvSpPr>
        <p:spPr>
          <a:xfrm>
            <a:off x="731520" y="914400"/>
            <a:ext cx="10957255" cy="365760"/>
          </a:xfrm>
          <a:prstGeom prst="rect">
            <a:avLst/>
          </a:prstGeom>
          <a:noFill/>
        </p:spPr>
        <p:txBody>
          <a:bodyPr wrap="square" lIns="109728" tIns="45720" rIns="109728" bIns="45720" anchor="t">
            <a:normAutofit/>
          </a:bodyPr>
          <a:lstStyle/>
          <a:p>
            <a:pPr algn="l">
              <a:buNone/>
            </a:pPr>
            <a:r>
              <a:rPr lang="en-US" sz="1200" dirty="0" b="1">
                <a:solidFill>
                  <a:srgbClr val="1F7A4D"/>
                </a:solidFill>
                <a:latin typeface="Calibri"/>
              </a:rPr>
              <a:t>PROBLEM STATEMENT PS-1  |  TINY DOT FOODS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731520" y="1371600"/>
            <a:ext cx="10957255" cy="1463040"/>
          </a:xfrm>
          <a:prstGeom prst="rect">
            <a:avLst/>
          </a:prstGeom>
          <a:noFill/>
        </p:spPr>
        <p:txBody>
          <a:bodyPr wrap="square" lIns="109728" tIns="45720" rIns="109728" bIns="45720" anchor="t">
            <a:norm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en-US" sz="4400" dirty="0" b="1">
                <a:solidFill>
                  <a:srgbClr val="172320"/>
                </a:solidFill>
                <a:latin typeface="Calibri Light"/>
              </a:rPr>
              <a:t>FormuSense</a:t>
            </a:r>
          </a:p>
          <a:p>
            <a:pPr algn="l">
              <a:buNone/>
            </a:pPr>
            <a:r>
              <a:rPr lang="en-US" sz="2000" dirty="0">
                <a:solidFill>
                  <a:srgbClr val="5C6B62"/>
                </a:solidFill>
                <a:latin typeface="Calibri Light"/>
              </a:rPr>
              <a:t>AI-Powered Food Product Development Agent</a:t>
            </a:r>
          </a:p>
        </p:txBody>
      </p:sp>
      <p:sp>
        <p:nvSpPr>
          <p:cNvPr id="5" name="Rule"/>
          <p:cNvSpPr txBox="1"/>
          <p:nvPr/>
        </p:nvSpPr>
        <p:spPr>
          <a:xfrm>
            <a:off x="731520" y="3017520"/>
            <a:ext cx="3840480" cy="36576"/>
          </a:xfrm>
          <a:prstGeom prst="rect">
            <a:avLst/>
          </a:prstGeom>
          <a:solidFill>
            <a:srgbClr val="1F7A4D"/>
          </a:solidFill>
        </p:spPr>
        <p:txBody>
          <a:bodyPr wrap="square" lIns="109728" tIns="45720" rIns="109728" bIns="45720" anchor="t">
            <a:normAutofit/>
          </a:bodyPr>
          <a:lstStyle/>
          <a:p>
            <a:pPr>
              <a:buNone/>
            </a:pPr>
          </a:p>
        </p:txBody>
      </p:sp>
      <p:sp>
        <p:nvSpPr>
          <p:cNvPr id="6" name="Promise"/>
          <p:cNvSpPr txBox="1"/>
          <p:nvPr/>
        </p:nvSpPr>
        <p:spPr>
          <a:xfrm>
            <a:off x="731520" y="3291840"/>
            <a:ext cx="10957255" cy="822960"/>
          </a:xfrm>
          <a:prstGeom prst="rect">
            <a:avLst/>
          </a:prstGeom>
          <a:noFill/>
        </p:spPr>
        <p:txBody>
          <a:bodyPr wrap="square" lIns="109728" tIns="45720" rIns="109728" bIns="45720" anchor="t">
            <a:norm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1700" dirty="0">
                <a:solidFill>
                  <a:srgbClr val="172320"/>
                </a:solidFill>
                <a:latin typeface="Calibri"/>
              </a:rPr>
              <a:t>An offline agent that takes a food product from a written brief to a validated formulation</a:t>
            </a:r>
          </a:p>
        </p:txBody>
      </p:sp>
      <p:sp>
        <p:nvSpPr>
          <p:cNvPr id="7" name="Team"/>
          <p:cNvSpPr txBox="1"/>
          <p:nvPr/>
        </p:nvSpPr>
        <p:spPr>
          <a:xfrm>
            <a:off x="731520" y="4343400"/>
            <a:ext cx="10957255" cy="914400"/>
          </a:xfrm>
          <a:prstGeom prst="rect">
            <a:avLst/>
          </a:prstGeom>
          <a:noFill/>
        </p:spPr>
        <p:txBody>
          <a:bodyPr wrap="square" lIns="109728" tIns="45720" rIns="109728" bIns="45720" anchor="t">
            <a:norm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n-US" sz="1200" dirty="0" b="1">
                <a:solidFill>
                  <a:srgbClr val="1F7A4D"/>
                </a:solidFill>
                <a:latin typeface="Calibri"/>
              </a:rPr>
              <a:t>TEAM  TECHNOSTATIC WINGS</a:t>
            </a:r>
          </a:p>
          <a:p>
            <a:pPr algn="l">
              <a:buNone/>
            </a:pPr>
            <a:r>
              <a:rPr lang="en-US" sz="1600" dirty="0">
                <a:solidFill>
                  <a:srgbClr val="172320"/>
                </a:solidFill>
                <a:latin typeface="Calibri"/>
              </a:rPr>
              <a:t>Raja Sethupathy   .   Guna M   .   Angel Brightlin A.</a:t>
            </a:r>
          </a:p>
        </p:txBody>
      </p:sp>
      <p:sp>
        <p:nvSpPr>
          <p:cNvPr id="9" name="Chip"/>
          <p:cNvSpPr/>
          <p:nvPr/>
        </p:nvSpPr>
        <p:spPr>
          <a:xfrm>
            <a:off x="731520" y="4846320"/>
            <a:ext cx="2615870" cy="914400"/>
          </a:xfrm>
          <a:prstGeom prst="roundRect">
            <a:avLst/>
          </a:prstGeom>
          <a:solidFill>
            <a:srgbClr val="E7F3EC"/>
          </a:solidFill>
        </p:spPr>
        <p:txBody>
          <a:bodyPr/>
          <a:lstStyle/>
          <a:p>
            <a:pPr>
              <a:buNone/>
            </a:pPr>
          </a:p>
        </p:txBody>
      </p:sp>
      <p:sp>
        <p:nvSpPr>
          <p:cNvPr id="19" name="ChipText"/>
          <p:cNvSpPr txBox="1"/>
          <p:nvPr/>
        </p:nvSpPr>
        <p:spPr>
          <a:xfrm>
            <a:off x="841248" y="4846320"/>
            <a:ext cx="2396414" cy="914400"/>
          </a:xfrm>
          <a:prstGeom prst="rect">
            <a:avLst/>
          </a:prstGeom>
          <a:noFill/>
        </p:spPr>
        <p:txBody>
          <a:bodyPr wrap="square" lIns="109728" tIns="45720" rIns="109728" bIns="45720" anchor="ctr">
            <a:normAutofit/>
          </a:bodyPr>
          <a:lstStyle/>
          <a:p>
            <a:pPr algn="ctr">
              <a:spcAft>
                <a:spcPts val="100"/>
              </a:spcAft>
              <a:buNone/>
            </a:pPr>
            <a:r>
              <a:rPr lang="en-US" sz="2200" dirty="0" b="1">
                <a:solidFill>
                  <a:srgbClr val="1F7A4D"/>
                </a:solidFill>
                <a:latin typeface="Calibri Light"/>
              </a:rPr>
              <a:t>95</a:t>
            </a:r>
          </a:p>
          <a:p>
            <a:pPr algn="ctr">
              <a:lnSpc>
                <a:spcPct val="95000"/>
              </a:lnSpc>
              <a:buNone/>
            </a:pPr>
            <a:r>
              <a:rPr lang="en-US" sz="1100" dirty="0">
                <a:solidFill>
                  <a:srgbClr val="172320"/>
                </a:solidFill>
                <a:latin typeface="Calibri"/>
              </a:rPr>
              <a:t>ingredients, 7 product categories</a:t>
            </a:r>
          </a:p>
        </p:txBody>
      </p:sp>
      <p:sp>
        <p:nvSpPr>
          <p:cNvPr id="10" name="Chip"/>
          <p:cNvSpPr/>
          <p:nvPr/>
        </p:nvSpPr>
        <p:spPr>
          <a:xfrm>
            <a:off x="3511982" y="4846320"/>
            <a:ext cx="2615870" cy="914400"/>
          </a:xfrm>
          <a:prstGeom prst="roundRect">
            <a:avLst/>
          </a:prstGeom>
          <a:solidFill>
            <a:srgbClr val="E7F3EC"/>
          </a:solidFill>
        </p:spPr>
        <p:txBody>
          <a:bodyPr/>
          <a:lstStyle/>
          <a:p>
            <a:pPr>
              <a:buNone/>
            </a:pPr>
          </a:p>
        </p:txBody>
      </p:sp>
      <p:sp>
        <p:nvSpPr>
          <p:cNvPr id="20" name="ChipText"/>
          <p:cNvSpPr txBox="1"/>
          <p:nvPr/>
        </p:nvSpPr>
        <p:spPr>
          <a:xfrm>
            <a:off x="3621710" y="4846320"/>
            <a:ext cx="2396414" cy="914400"/>
          </a:xfrm>
          <a:prstGeom prst="rect">
            <a:avLst/>
          </a:prstGeom>
          <a:noFill/>
        </p:spPr>
        <p:txBody>
          <a:bodyPr wrap="square" lIns="109728" tIns="45720" rIns="109728" bIns="45720" anchor="ctr">
            <a:normAutofit/>
          </a:bodyPr>
          <a:lstStyle/>
          <a:p>
            <a:pPr algn="ctr">
              <a:spcAft>
                <a:spcPts val="100"/>
              </a:spcAft>
              <a:buNone/>
            </a:pPr>
            <a:r>
              <a:rPr lang="en-US" sz="2200" dirty="0" b="1">
                <a:solidFill>
                  <a:srgbClr val="1F7A4D"/>
                </a:solidFill>
                <a:latin typeface="Calibri Light"/>
              </a:rPr>
              <a:t>0</a:t>
            </a:r>
          </a:p>
          <a:p>
            <a:pPr algn="ctr">
              <a:lnSpc>
                <a:spcPct val="95000"/>
              </a:lnSpc>
              <a:buNone/>
            </a:pPr>
            <a:r>
              <a:rPr lang="en-US" sz="1100" dirty="0">
                <a:solidFill>
                  <a:srgbClr val="172320"/>
                </a:solidFill>
                <a:latin typeface="Calibri"/>
              </a:rPr>
              <a:t>API keys and network calls</a:t>
            </a:r>
          </a:p>
        </p:txBody>
      </p:sp>
      <p:sp>
        <p:nvSpPr>
          <p:cNvPr id="11" name="Chip"/>
          <p:cNvSpPr/>
          <p:nvPr/>
        </p:nvSpPr>
        <p:spPr>
          <a:xfrm>
            <a:off x="6292444" y="4846320"/>
            <a:ext cx="2615870" cy="914400"/>
          </a:xfrm>
          <a:prstGeom prst="roundRect">
            <a:avLst/>
          </a:prstGeom>
          <a:solidFill>
            <a:srgbClr val="E7F3EC"/>
          </a:solidFill>
        </p:spPr>
        <p:txBody>
          <a:bodyPr/>
          <a:lstStyle/>
          <a:p>
            <a:pPr>
              <a:buNone/>
            </a:pPr>
          </a:p>
        </p:txBody>
      </p:sp>
      <p:sp>
        <p:nvSpPr>
          <p:cNvPr id="21" name="ChipText"/>
          <p:cNvSpPr txBox="1"/>
          <p:nvPr/>
        </p:nvSpPr>
        <p:spPr>
          <a:xfrm>
            <a:off x="6402172" y="4846320"/>
            <a:ext cx="2396414" cy="914400"/>
          </a:xfrm>
          <a:prstGeom prst="rect">
            <a:avLst/>
          </a:prstGeom>
          <a:noFill/>
        </p:spPr>
        <p:txBody>
          <a:bodyPr wrap="square" lIns="109728" tIns="45720" rIns="109728" bIns="45720" anchor="ctr">
            <a:normAutofit/>
          </a:bodyPr>
          <a:lstStyle/>
          <a:p>
            <a:pPr algn="ctr">
              <a:spcAft>
                <a:spcPts val="100"/>
              </a:spcAft>
              <a:buNone/>
            </a:pPr>
            <a:r>
              <a:rPr lang="en-US" sz="2200" dirty="0" b="1">
                <a:solidFill>
                  <a:srgbClr val="1F7A4D"/>
                </a:solidFill>
                <a:latin typeface="Calibri Light"/>
              </a:rPr>
              <a:t>166</a:t>
            </a:r>
          </a:p>
          <a:p>
            <a:pPr algn="ctr">
              <a:lnSpc>
                <a:spcPct val="95000"/>
              </a:lnSpc>
              <a:buNone/>
            </a:pPr>
            <a:r>
              <a:rPr lang="en-US" sz="1100" dirty="0">
                <a:solidFill>
                  <a:srgbClr val="172320"/>
                </a:solidFill>
                <a:latin typeface="Calibri"/>
              </a:rPr>
              <a:t>automated tests, all green</a:t>
            </a:r>
          </a:p>
        </p:txBody>
      </p:sp>
      <p:sp>
        <p:nvSpPr>
          <p:cNvPr id="12" name="Chip"/>
          <p:cNvSpPr/>
          <p:nvPr/>
        </p:nvSpPr>
        <p:spPr>
          <a:xfrm>
            <a:off x="9072905" y="4846320"/>
            <a:ext cx="2615870" cy="914400"/>
          </a:xfrm>
          <a:prstGeom prst="roundRect">
            <a:avLst/>
          </a:prstGeom>
          <a:solidFill>
            <a:srgbClr val="E7F3EC"/>
          </a:solidFill>
        </p:spPr>
        <p:txBody>
          <a:bodyPr/>
          <a:lstStyle/>
          <a:p>
            <a:pPr>
              <a:buNone/>
            </a:pPr>
          </a:p>
        </p:txBody>
      </p:sp>
      <p:sp>
        <p:nvSpPr>
          <p:cNvPr id="22" name="ChipText"/>
          <p:cNvSpPr txBox="1"/>
          <p:nvPr/>
        </p:nvSpPr>
        <p:spPr>
          <a:xfrm>
            <a:off x="9182633" y="4846320"/>
            <a:ext cx="2396414" cy="914400"/>
          </a:xfrm>
          <a:prstGeom prst="rect">
            <a:avLst/>
          </a:prstGeom>
          <a:noFill/>
        </p:spPr>
        <p:txBody>
          <a:bodyPr wrap="square" lIns="109728" tIns="45720" rIns="109728" bIns="45720" anchor="ctr">
            <a:normAutofit/>
          </a:bodyPr>
          <a:lstStyle/>
          <a:p>
            <a:pPr algn="ctr">
              <a:spcAft>
                <a:spcPts val="100"/>
              </a:spcAft>
              <a:buNone/>
            </a:pPr>
            <a:r>
              <a:rPr lang="en-US" sz="2200" dirty="0" b="1">
                <a:solidFill>
                  <a:srgbClr val="1F7A4D"/>
                </a:solidFill>
                <a:latin typeface="Calibri Light"/>
              </a:rPr>
              <a:t>4.25</a:t>
            </a:r>
          </a:p>
          <a:p>
            <a:pPr algn="ctr">
              <a:lnSpc>
                <a:spcPct val="95000"/>
              </a:lnSpc>
              <a:buNone/>
            </a:pPr>
            <a:r>
              <a:rPr lang="en-US" sz="1100" dirty="0">
                <a:solidFill>
                  <a:srgbClr val="172320"/>
                </a:solidFill>
                <a:latin typeface="Calibri"/>
              </a:rPr>
              <a:t>trials saved per product</a:t>
            </a:r>
          </a:p>
        </p:txBody>
      </p:sp>
      <p:sp>
        <p:nvSpPr>
          <p:cNvPr id="30" name="Footnote"/>
          <p:cNvSpPr txBox="1"/>
          <p:nvPr/>
        </p:nvSpPr>
        <p:spPr>
          <a:xfrm>
            <a:off x="731520" y="6035040"/>
            <a:ext cx="10957255" cy="365760"/>
          </a:xfrm>
          <a:prstGeom prst="rect">
            <a:avLst/>
          </a:prstGeom>
          <a:noFill/>
        </p:spPr>
        <p:txBody>
          <a:bodyPr wrap="square" lIns="109728" tIns="45720" rIns="109728" bIns="45720" anchor="t">
            <a:normAutofit/>
          </a:bodyPr>
          <a:lstStyle/>
          <a:p>
            <a:pPr algn="l">
              <a:buNone/>
            </a:pPr>
            <a:r>
              <a:rPr lang="en-US" sz="1100" dirty="0">
                <a:solidFill>
                  <a:srgbClr val="5C6B62"/>
                </a:solidFill>
                <a:latin typeface="Calibri"/>
              </a:rPr>
              <a:t>Python standard library only  .  no API key, no network call  .  every number on these slides read from the record at build time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Bar"/>
          <p:cNvSpPr txBox="1"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F7A4D"/>
          </a:solidFill>
        </p:spPr>
        <p:txBody>
          <a:bodyPr wrap="square" lIns="109728" tIns="45720" rIns="109728" bIns="45720" anchor="t">
            <a:normAutofit/>
          </a:bodyPr>
          <a:lstStyle/>
          <a:p>
            <a:pPr>
              <a:buNone/>
            </a:pPr>
          </a:p>
        </p:txBody>
      </p:sp>
      <p:sp>
        <p:nvSpPr>
          <p:cNvPr id="3" name="SlideTitle"/>
          <p:cNvSpPr txBox="1"/>
          <p:nvPr/>
        </p:nvSpPr>
        <p:spPr>
          <a:xfrm>
            <a:off x="731520" y="384048"/>
            <a:ext cx="10957255" cy="868680"/>
          </a:xfrm>
          <a:prstGeom prst="rect">
            <a:avLst/>
          </a:prstGeom>
          <a:noFill/>
        </p:spPr>
        <p:txBody>
          <a:bodyPr wrap="square" lIns="109728" tIns="45720" rIns="109728" bIns="45720" anchor="t">
            <a:normAutofit/>
          </a:bodyPr>
          <a:lstStyle/>
          <a:p>
            <a:pPr algn="l">
              <a:buNone/>
            </a:pPr>
            <a:r>
              <a:rPr lang="en-US" sz="2800" dirty="0" b="1">
                <a:solidFill>
                  <a:srgbClr val="172320"/>
                </a:solidFill>
                <a:latin typeface="Calibri Light"/>
              </a:rPr>
              <a:t>The Problem We Addressed (PS-1)</a:t>
            </a:r>
          </a:p>
        </p:txBody>
      </p:sp>
      <p:sp>
        <p:nvSpPr>
          <p:cNvPr id="4" name="Rule"/>
          <p:cNvSpPr txBox="1"/>
          <p:nvPr/>
        </p:nvSpPr>
        <p:spPr>
          <a:xfrm>
            <a:off x="731520" y="1389888"/>
            <a:ext cx="10957255" cy="27432"/>
          </a:xfrm>
          <a:prstGeom prst="rect">
            <a:avLst/>
          </a:prstGeom>
          <a:solidFill>
            <a:srgbClr val="D6DFD9"/>
          </a:solidFill>
        </p:spPr>
        <p:txBody>
          <a:bodyPr wrap="square" lIns="109728" tIns="45720" rIns="109728" bIns="45720" anchor="t">
            <a:normAutofit/>
          </a:bodyPr>
          <a:lstStyle/>
          <a:p>
            <a:pPr>
              <a:buNone/>
            </a:pPr>
          </a:p>
        </p:txBody>
      </p:sp>
      <p:sp>
        <p:nvSpPr>
          <p:cNvPr id="5" name="Lead"/>
          <p:cNvSpPr txBox="1"/>
          <p:nvPr/>
        </p:nvSpPr>
        <p:spPr>
          <a:xfrm>
            <a:off x="731520" y="1627632"/>
            <a:ext cx="10957255" cy="457200"/>
          </a:xfrm>
          <a:prstGeom prst="rect">
            <a:avLst/>
          </a:prstGeom>
          <a:noFill/>
        </p:spPr>
        <p:txBody>
          <a:bodyPr wrap="square" lIns="109728" tIns="45720" rIns="109728" bIns="45720" anchor="t">
            <a:normAutofit/>
          </a:bodyPr>
          <a:lstStyle/>
          <a:p>
            <a:pPr algn="l">
              <a:lnSpc>
                <a:spcPct val="98000"/>
              </a:lnSpc>
              <a:buNone/>
            </a:pPr>
            <a:r>
              <a:rPr lang="en-US" sz="1400" dirty="0" i="1">
                <a:solidFill>
                  <a:srgbClr val="5C6B62"/>
                </a:solidFill>
                <a:latin typeface="Calibri"/>
              </a:rPr>
              <a:t>A new food product is rarely right the first time, and the gap is closed today by physical trials.</a:t>
            </a:r>
          </a:p>
        </p:txBody>
      </p:sp>
      <p:sp>
        <p:nvSpPr>
          <p:cNvPr id="6" name="Band"/>
          <p:cNvSpPr txBox="1"/>
          <p:nvPr/>
        </p:nvSpPr>
        <p:spPr>
          <a:xfrm>
            <a:off x="731520" y="2203704"/>
            <a:ext cx="10957255" cy="521646"/>
          </a:xfrm>
          <a:prstGeom prst="rect">
            <a:avLst/>
          </a:prstGeom>
          <a:solidFill>
            <a:srgbClr val="E7F3EC"/>
          </a:solidFill>
        </p:spPr>
        <p:txBody>
          <a:bodyPr wrap="square" lIns="109728" tIns="45720" rIns="109728" bIns="45720" anchor="t">
            <a:normAutofit/>
          </a:bodyPr>
          <a:lstStyle/>
          <a:p>
            <a:pPr>
              <a:buNone/>
            </a:pPr>
          </a:p>
        </p:txBody>
      </p:sp>
      <p:sp>
        <p:nvSpPr>
          <p:cNvPr id="7" name="Badge"/>
          <p:cNvSpPr/>
          <p:nvPr/>
        </p:nvSpPr>
        <p:spPr>
          <a:xfrm>
            <a:off x="822960" y="2277075"/>
            <a:ext cx="402336" cy="402336"/>
          </a:xfrm>
          <a:prstGeom prst="roundRect">
            <a:avLst/>
          </a:prstGeom>
          <a:solidFill>
            <a:srgbClr val="1F7A4D"/>
          </a:solidFill>
        </p:spPr>
        <p:txBody>
          <a:bodyPr/>
          <a:lstStyle/>
          <a:p>
            <a:pPr>
              <a:buNone/>
            </a:pPr>
          </a:p>
        </p:txBody>
      </p:sp>
      <p:sp>
        <p:nvSpPr>
          <p:cNvPr id="8" name="BadgeNumber"/>
          <p:cNvSpPr txBox="1"/>
          <p:nvPr/>
        </p:nvSpPr>
        <p:spPr>
          <a:xfrm>
            <a:off x="822960" y="2277075"/>
            <a:ext cx="402336" cy="402336"/>
          </a:xfrm>
          <a:prstGeom prst="rect">
            <a:avLst/>
          </a:prstGeom>
          <a:noFill/>
        </p:spPr>
        <p:txBody>
          <a:bodyPr wrap="square" lIns="109728" tIns="45720" rIns="109728" bIns="45720" anchor="ctr">
            <a:normAutofit/>
          </a:bodyPr>
          <a:lstStyle/>
          <a:p>
            <a:pPr algn="ctr">
              <a:buNone/>
            </a:pPr>
            <a:r>
              <a:rPr lang="en-US" sz="1300" dirty="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StepText"/>
          <p:cNvSpPr txBox="1"/>
          <p:nvPr/>
        </p:nvSpPr>
        <p:spPr>
          <a:xfrm>
            <a:off x="1389888" y="2176272"/>
            <a:ext cx="10170871" cy="603942"/>
          </a:xfrm>
          <a:prstGeom prst="rect">
            <a:avLst/>
          </a:prstGeom>
          <a:noFill/>
        </p:spPr>
        <p:txBody>
          <a:bodyPr wrap="square" lIns="109728" tIns="45720" rIns="109728" bIns="45720" anchor="ctr">
            <a:normAutofit/>
          </a:bodyPr>
          <a:lstStyle/>
          <a:p>
            <a:pPr algn="l">
              <a:spcAft>
                <a:spcPts val="100"/>
              </a:spcAft>
              <a:buNone/>
            </a:pPr>
            <a:r>
              <a:rPr lang="en-US" sz="1300" dirty="0" b="1">
                <a:solidFill>
                  <a:srgbClr val="172320"/>
                </a:solidFill>
                <a:latin typeface="Calibri"/>
              </a:rPr>
              <a:t>A brief arrives</a:t>
            </a:r>
          </a:p>
          <a:p>
            <a:pPr algn="l">
              <a:lnSpc>
                <a:spcPct val="95000"/>
              </a:lnSpc>
              <a:buNone/>
            </a:pPr>
            <a:r>
              <a:rPr lang="en-US" sz="1100" dirty="0">
                <a:solidFill>
                  <a:srgbClr val="5C6B62"/>
                </a:solidFill>
                <a:latin typeface="Calibri"/>
              </a:rPr>
              <a:t>Targets and tolerances, claims, diet and allergens - written down, but not yet a recipe.</a:t>
            </a:r>
          </a:p>
        </p:txBody>
      </p:sp>
      <p:sp>
        <p:nvSpPr>
          <p:cNvPr id="10" name="Band"/>
          <p:cNvSpPr txBox="1"/>
          <p:nvPr/>
        </p:nvSpPr>
        <p:spPr>
          <a:xfrm>
            <a:off x="731520" y="2807646"/>
            <a:ext cx="10957255" cy="521646"/>
          </a:xfrm>
          <a:prstGeom prst="rect">
            <a:avLst/>
          </a:prstGeom>
          <a:solidFill>
            <a:srgbClr val="E7F3EC"/>
          </a:solidFill>
        </p:spPr>
        <p:txBody>
          <a:bodyPr wrap="square" lIns="109728" tIns="45720" rIns="109728" bIns="45720" anchor="t">
            <a:normAutofit/>
          </a:bodyPr>
          <a:lstStyle/>
          <a:p>
            <a:pPr>
              <a:buNone/>
            </a:pPr>
          </a:p>
        </p:txBody>
      </p:sp>
      <p:sp>
        <p:nvSpPr>
          <p:cNvPr id="11" name="Badge"/>
          <p:cNvSpPr/>
          <p:nvPr/>
        </p:nvSpPr>
        <p:spPr>
          <a:xfrm>
            <a:off x="822960" y="2881016"/>
            <a:ext cx="402336" cy="402336"/>
          </a:xfrm>
          <a:prstGeom prst="roundRect">
            <a:avLst/>
          </a:prstGeom>
          <a:solidFill>
            <a:srgbClr val="1F7A4D"/>
          </a:solidFill>
        </p:spPr>
        <p:txBody>
          <a:bodyPr/>
          <a:lstStyle/>
          <a:p>
            <a:pPr>
              <a:buNone/>
            </a:pPr>
          </a:p>
        </p:txBody>
      </p:sp>
      <p:sp>
        <p:nvSpPr>
          <p:cNvPr id="12" name="BadgeNumber"/>
          <p:cNvSpPr txBox="1"/>
          <p:nvPr/>
        </p:nvSpPr>
        <p:spPr>
          <a:xfrm>
            <a:off x="822960" y="2881016"/>
            <a:ext cx="402336" cy="402336"/>
          </a:xfrm>
          <a:prstGeom prst="rect">
            <a:avLst/>
          </a:prstGeom>
          <a:noFill/>
        </p:spPr>
        <p:txBody>
          <a:bodyPr wrap="square" lIns="109728" tIns="45720" rIns="109728" bIns="45720" anchor="ctr">
            <a:normAutofit/>
          </a:bodyPr>
          <a:lstStyle/>
          <a:p>
            <a:pPr algn="ctr">
              <a:buNone/>
            </a:pPr>
            <a:r>
              <a:rPr lang="en-US" sz="1300" dirty="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StepText"/>
          <p:cNvSpPr txBox="1"/>
          <p:nvPr/>
        </p:nvSpPr>
        <p:spPr>
          <a:xfrm>
            <a:off x="1389888" y="2780214"/>
            <a:ext cx="10170871" cy="603942"/>
          </a:xfrm>
          <a:prstGeom prst="rect">
            <a:avLst/>
          </a:prstGeom>
          <a:noFill/>
        </p:spPr>
        <p:txBody>
          <a:bodyPr wrap="square" lIns="109728" tIns="45720" rIns="109728" bIns="45720" anchor="ctr">
            <a:normAutofit/>
          </a:bodyPr>
          <a:lstStyle/>
          <a:p>
            <a:pPr algn="l">
              <a:spcAft>
                <a:spcPts val="100"/>
              </a:spcAft>
              <a:buNone/>
            </a:pPr>
            <a:r>
              <a:rPr lang="en-US" sz="1300" dirty="0" b="1">
                <a:solidFill>
                  <a:srgbClr val="172320"/>
                </a:solidFill>
                <a:latin typeface="Calibri"/>
              </a:rPr>
              <a:t>The first recipe misses something</a:t>
            </a:r>
          </a:p>
          <a:p>
            <a:pPr algn="l">
              <a:lnSpc>
                <a:spcPct val="95000"/>
              </a:lnSpc>
              <a:buNone/>
            </a:pPr>
            <a:r>
              <a:rPr lang="en-US" sz="1100" dirty="0">
                <a:solidFill>
                  <a:srgbClr val="5C6B62"/>
                </a:solidFill>
                <a:latin typeface="Calibri"/>
              </a:rPr>
              <a:t>Texture, pH, water activity, cost or shelf life: rarely all of it at once, and never obviously.</a:t>
            </a:r>
          </a:p>
        </p:txBody>
      </p:sp>
      <p:sp>
        <p:nvSpPr>
          <p:cNvPr id="14" name="Band"/>
          <p:cNvSpPr txBox="1"/>
          <p:nvPr/>
        </p:nvSpPr>
        <p:spPr>
          <a:xfrm>
            <a:off x="731520" y="3411587"/>
            <a:ext cx="10957255" cy="521646"/>
          </a:xfrm>
          <a:prstGeom prst="rect">
            <a:avLst/>
          </a:prstGeom>
          <a:solidFill>
            <a:srgbClr val="E7F3EC"/>
          </a:solidFill>
        </p:spPr>
        <p:txBody>
          <a:bodyPr wrap="square" lIns="109728" tIns="45720" rIns="109728" bIns="45720" anchor="t">
            <a:normAutofit/>
          </a:bodyPr>
          <a:lstStyle/>
          <a:p>
            <a:pPr>
              <a:buNone/>
            </a:pPr>
          </a:p>
        </p:txBody>
      </p:sp>
      <p:sp>
        <p:nvSpPr>
          <p:cNvPr id="15" name="Badge"/>
          <p:cNvSpPr/>
          <p:nvPr/>
        </p:nvSpPr>
        <p:spPr>
          <a:xfrm>
            <a:off x="822960" y="3484958"/>
            <a:ext cx="402336" cy="402336"/>
          </a:xfrm>
          <a:prstGeom prst="roundRect">
            <a:avLst/>
          </a:prstGeom>
          <a:solidFill>
            <a:srgbClr val="1F7A4D"/>
          </a:solidFill>
        </p:spPr>
        <p:txBody>
          <a:bodyPr/>
          <a:lstStyle/>
          <a:p>
            <a:pPr>
              <a:buNone/>
            </a:pPr>
          </a:p>
        </p:txBody>
      </p:sp>
      <p:sp>
        <p:nvSpPr>
          <p:cNvPr id="16" name="BadgeNumber"/>
          <p:cNvSpPr txBox="1"/>
          <p:nvPr/>
        </p:nvSpPr>
        <p:spPr>
          <a:xfrm>
            <a:off x="822960" y="3484958"/>
            <a:ext cx="402336" cy="402336"/>
          </a:xfrm>
          <a:prstGeom prst="rect">
            <a:avLst/>
          </a:prstGeom>
          <a:noFill/>
        </p:spPr>
        <p:txBody>
          <a:bodyPr wrap="square" lIns="109728" tIns="45720" rIns="109728" bIns="45720" anchor="ctr">
            <a:normAutofit/>
          </a:bodyPr>
          <a:lstStyle/>
          <a:p>
            <a:pPr algn="ctr">
              <a:buNone/>
            </a:pPr>
            <a:r>
              <a:rPr lang="en-US" sz="1300" dirty="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StepText"/>
          <p:cNvSpPr txBox="1"/>
          <p:nvPr/>
        </p:nvSpPr>
        <p:spPr>
          <a:xfrm>
            <a:off x="1389888" y="3384155"/>
            <a:ext cx="10170871" cy="603942"/>
          </a:xfrm>
          <a:prstGeom prst="rect">
            <a:avLst/>
          </a:prstGeom>
          <a:noFill/>
        </p:spPr>
        <p:txBody>
          <a:bodyPr wrap="square" lIns="109728" tIns="45720" rIns="109728" bIns="45720" anchor="ctr">
            <a:normAutofit/>
          </a:bodyPr>
          <a:lstStyle/>
          <a:p>
            <a:pPr algn="l">
              <a:spcAft>
                <a:spcPts val="100"/>
              </a:spcAft>
              <a:buNone/>
            </a:pPr>
            <a:r>
              <a:rPr lang="en-US" sz="1300" dirty="0" b="1">
                <a:solidFill>
                  <a:srgbClr val="172320"/>
                </a:solidFill>
                <a:latin typeface="Calibri"/>
              </a:rPr>
              <a:t>The gap is closed by trials</a:t>
            </a:r>
          </a:p>
          <a:p>
            <a:pPr algn="l">
              <a:lnSpc>
                <a:spcPct val="95000"/>
              </a:lnSpc>
              <a:buNone/>
            </a:pPr>
            <a:r>
              <a:rPr lang="en-US" sz="1100" dirty="0">
                <a:solidFill>
                  <a:srgbClr val="5C6B62"/>
                </a:solidFill>
                <a:latin typeface="Calibri"/>
              </a:rPr>
              <a:t>Each one costs material, machine time, analytical work and shelf space.</a:t>
            </a:r>
          </a:p>
        </p:txBody>
      </p:sp>
      <p:sp>
        <p:nvSpPr>
          <p:cNvPr id="18" name="Band"/>
          <p:cNvSpPr txBox="1"/>
          <p:nvPr/>
        </p:nvSpPr>
        <p:spPr>
          <a:xfrm>
            <a:off x="731520" y="4015529"/>
            <a:ext cx="10957255" cy="521646"/>
          </a:xfrm>
          <a:prstGeom prst="rect">
            <a:avLst/>
          </a:prstGeom>
          <a:solidFill>
            <a:srgbClr val="E7F3EC"/>
          </a:solidFill>
        </p:spPr>
        <p:txBody>
          <a:bodyPr wrap="square" lIns="109728" tIns="45720" rIns="109728" bIns="45720" anchor="t">
            <a:normAutofit/>
          </a:bodyPr>
          <a:lstStyle/>
          <a:p>
            <a:pPr>
              <a:buNone/>
            </a:pPr>
          </a:p>
        </p:txBody>
      </p:sp>
      <p:sp>
        <p:nvSpPr>
          <p:cNvPr id="19" name="Badge"/>
          <p:cNvSpPr/>
          <p:nvPr/>
        </p:nvSpPr>
        <p:spPr>
          <a:xfrm>
            <a:off x="822960" y="4088899"/>
            <a:ext cx="402336" cy="402336"/>
          </a:xfrm>
          <a:prstGeom prst="roundRect">
            <a:avLst/>
          </a:prstGeom>
          <a:solidFill>
            <a:srgbClr val="1F7A4D"/>
          </a:solidFill>
        </p:spPr>
        <p:txBody>
          <a:bodyPr/>
          <a:lstStyle/>
          <a:p>
            <a:pPr>
              <a:buNone/>
            </a:pPr>
          </a:p>
        </p:txBody>
      </p:sp>
      <p:sp>
        <p:nvSpPr>
          <p:cNvPr id="20" name="BadgeNumber"/>
          <p:cNvSpPr txBox="1"/>
          <p:nvPr/>
        </p:nvSpPr>
        <p:spPr>
          <a:xfrm>
            <a:off x="822960" y="4088899"/>
            <a:ext cx="402336" cy="402336"/>
          </a:xfrm>
          <a:prstGeom prst="rect">
            <a:avLst/>
          </a:prstGeom>
          <a:noFill/>
        </p:spPr>
        <p:txBody>
          <a:bodyPr wrap="square" lIns="109728" tIns="45720" rIns="109728" bIns="45720" anchor="ctr">
            <a:normAutofit/>
          </a:bodyPr>
          <a:lstStyle/>
          <a:p>
            <a:pPr algn="ctr">
              <a:buNone/>
            </a:pPr>
            <a:r>
              <a:rPr lang="en-US" sz="1300" dirty="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StepText"/>
          <p:cNvSpPr txBox="1"/>
          <p:nvPr/>
        </p:nvSpPr>
        <p:spPr>
          <a:xfrm>
            <a:off x="1389888" y="3988097"/>
            <a:ext cx="10170871" cy="603942"/>
          </a:xfrm>
          <a:prstGeom prst="rect">
            <a:avLst/>
          </a:prstGeom>
          <a:noFill/>
        </p:spPr>
        <p:txBody>
          <a:bodyPr wrap="square" lIns="109728" tIns="45720" rIns="109728" bIns="45720" anchor="ctr">
            <a:normAutofit/>
          </a:bodyPr>
          <a:lstStyle/>
          <a:p>
            <a:pPr algn="l">
              <a:spcAft>
                <a:spcPts val="100"/>
              </a:spcAft>
              <a:buNone/>
            </a:pPr>
            <a:r>
              <a:rPr lang="en-US" sz="1300" dirty="0" b="1">
                <a:solidFill>
                  <a:srgbClr val="172320"/>
                </a:solidFill>
                <a:latin typeface="Calibri"/>
              </a:rPr>
              <a:t>Weeks pass per product</a:t>
            </a:r>
          </a:p>
          <a:p>
            <a:pPr algn="l">
              <a:lnSpc>
                <a:spcPct val="95000"/>
              </a:lnSpc>
              <a:buNone/>
            </a:pPr>
            <a:r>
              <a:rPr lang="en-US" sz="1100" dirty="0">
                <a:solidFill>
                  <a:srgbClr val="5C6B62"/>
                </a:solidFill>
                <a:latin typeface="Calibri"/>
              </a:rPr>
              <a:t>The answer arrives only after the budget has been spent.</a:t>
            </a:r>
          </a:p>
        </p:txBody>
      </p:sp>
      <p:sp>
        <p:nvSpPr>
          <p:cNvPr id="22" name="Band"/>
          <p:cNvSpPr txBox="1"/>
          <p:nvPr/>
        </p:nvSpPr>
        <p:spPr>
          <a:xfrm>
            <a:off x="731520" y="4619470"/>
            <a:ext cx="10957255" cy="521646"/>
          </a:xfrm>
          <a:prstGeom prst="rect">
            <a:avLst/>
          </a:prstGeom>
          <a:solidFill>
            <a:srgbClr val="E7F3EC"/>
          </a:solidFill>
        </p:spPr>
        <p:txBody>
          <a:bodyPr wrap="square" lIns="109728" tIns="45720" rIns="109728" bIns="45720" anchor="t">
            <a:normAutofit/>
          </a:bodyPr>
          <a:lstStyle/>
          <a:p>
            <a:pPr>
              <a:buNone/>
            </a:pPr>
          </a:p>
        </p:txBody>
      </p:sp>
      <p:sp>
        <p:nvSpPr>
          <p:cNvPr id="23" name="Badge"/>
          <p:cNvSpPr/>
          <p:nvPr/>
        </p:nvSpPr>
        <p:spPr>
          <a:xfrm>
            <a:off x="822960" y="4692841"/>
            <a:ext cx="402336" cy="402336"/>
          </a:xfrm>
          <a:prstGeom prst="roundRect">
            <a:avLst/>
          </a:prstGeom>
          <a:solidFill>
            <a:srgbClr val="1F7A4D"/>
          </a:solidFill>
        </p:spPr>
        <p:txBody>
          <a:bodyPr/>
          <a:lstStyle/>
          <a:p>
            <a:pPr>
              <a:buNone/>
            </a:pPr>
          </a:p>
        </p:txBody>
      </p:sp>
      <p:sp>
        <p:nvSpPr>
          <p:cNvPr id="24" name="BadgeNumber"/>
          <p:cNvSpPr txBox="1"/>
          <p:nvPr/>
        </p:nvSpPr>
        <p:spPr>
          <a:xfrm>
            <a:off x="822960" y="4692841"/>
            <a:ext cx="402336" cy="402336"/>
          </a:xfrm>
          <a:prstGeom prst="rect">
            <a:avLst/>
          </a:prstGeom>
          <a:noFill/>
        </p:spPr>
        <p:txBody>
          <a:bodyPr wrap="square" lIns="109728" tIns="45720" rIns="109728" bIns="45720" anchor="ctr">
            <a:normAutofit/>
          </a:bodyPr>
          <a:lstStyle/>
          <a:p>
            <a:pPr algn="ctr">
              <a:buNone/>
            </a:pPr>
            <a:r>
              <a:rPr lang="en-US" sz="1300" dirty="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StepText"/>
          <p:cNvSpPr txBox="1"/>
          <p:nvPr/>
        </p:nvSpPr>
        <p:spPr>
          <a:xfrm>
            <a:off x="1389888" y="4592038"/>
            <a:ext cx="10170871" cy="603942"/>
          </a:xfrm>
          <a:prstGeom prst="rect">
            <a:avLst/>
          </a:prstGeom>
          <a:noFill/>
        </p:spPr>
        <p:txBody>
          <a:bodyPr wrap="square" lIns="109728" tIns="45720" rIns="109728" bIns="45720" anchor="ctr">
            <a:normAutofit/>
          </a:bodyPr>
          <a:lstStyle/>
          <a:p>
            <a:pPr algn="l">
              <a:spcAft>
                <a:spcPts val="100"/>
              </a:spcAft>
              <a:buNone/>
            </a:pPr>
            <a:r>
              <a:rPr lang="en-US" sz="1300" dirty="0" b="1">
                <a:solidFill>
                  <a:srgbClr val="172320"/>
                </a:solidFill>
                <a:latin typeface="Calibri"/>
              </a:rPr>
              <a:t>So PS-1 is not "design a product"</a:t>
            </a:r>
          </a:p>
          <a:p>
            <a:pPr algn="l">
              <a:lnSpc>
                <a:spcPct val="95000"/>
              </a:lnSpc>
              <a:buNone/>
            </a:pPr>
            <a:r>
              <a:rPr lang="en-US" sz="1100" dirty="0">
                <a:solidFill>
                  <a:srgbClr val="5C6B62"/>
                </a:solidFill>
                <a:latin typeface="Calibri"/>
              </a:rPr>
              <a:t>It is: stop paying for trials a model could have avoided.</a:t>
            </a:r>
          </a:p>
        </p:txBody>
      </p:sp>
      <p:sp>
        <p:nvSpPr>
          <p:cNvPr id="26" name="Callout"/>
          <p:cNvSpPr/>
          <p:nvPr/>
        </p:nvSpPr>
        <p:spPr>
          <a:xfrm>
            <a:off x="731520" y="5342284"/>
            <a:ext cx="10957255" cy="692756"/>
          </a:xfrm>
          <a:prstGeom prst="roundRect">
            <a:avLst/>
          </a:prstGeom>
          <a:solidFill>
            <a:srgbClr val="E7F3EC"/>
          </a:solidFill>
        </p:spPr>
        <p:txBody>
          <a:bodyPr/>
          <a:lstStyle/>
          <a:p>
            <a:pPr>
              <a:buNone/>
            </a:pPr>
          </a:p>
        </p:txBody>
      </p:sp>
      <p:sp>
        <p:nvSpPr>
          <p:cNvPr id="27" name="CalloutText"/>
          <p:cNvSpPr txBox="1"/>
          <p:nvPr/>
        </p:nvSpPr>
        <p:spPr>
          <a:xfrm>
            <a:off x="932688" y="5342284"/>
            <a:ext cx="10554919" cy="692756"/>
          </a:xfrm>
          <a:prstGeom prst="rect">
            <a:avLst/>
          </a:prstGeom>
          <a:noFill/>
        </p:spPr>
        <p:txBody>
          <a:bodyPr wrap="square" lIns="109728" tIns="45720" rIns="109728" bIns="45720" anchor="ctr">
            <a:normAutofit/>
          </a:bodyPr>
          <a:lstStyle/>
          <a:p>
            <a:pPr algn="l">
              <a:buNone/>
            </a:pPr>
            <a:r>
              <a:rPr lang="en-US" sz="1300" dirty="0" b="1">
                <a:solidFill>
                  <a:srgbClr val="172320"/>
                </a:solidFill>
                <a:latin typeface="Calibri"/>
              </a:rPr>
              <a:t>What we delivered: a working agent that carries a product from a written specification to a validated formulation.</a:t>
            </a:r>
          </a:p>
        </p:txBody>
      </p:sp>
      <p:sp>
        <p:nvSpPr>
          <p:cNvPr id="28" name="Footer"/>
          <p:cNvSpPr txBox="1"/>
          <p:nvPr/>
        </p:nvSpPr>
        <p:spPr>
          <a:xfrm>
            <a:off x="731520" y="6236208"/>
            <a:ext cx="10957255" cy="310896"/>
          </a:xfrm>
          <a:prstGeom prst="rect">
            <a:avLst/>
          </a:prstGeom>
          <a:noFill/>
        </p:spPr>
        <p:txBody>
          <a:bodyPr wrap="square" lIns="109728" tIns="45720" rIns="109728" bIns="45720" anchor="t">
            <a:normAutofit/>
          </a:bodyPr>
          <a:lstStyle/>
          <a:p>
            <a:pPr algn="l">
              <a:buNone/>
            </a:pPr>
            <a:r>
              <a:rPr lang="en-US" sz="950" dirty="0">
                <a:solidFill>
                  <a:srgbClr val="5C6B62"/>
                </a:solidFill>
                <a:latin typeface="Calibri"/>
              </a:rPr>
              <a:t>Technostatic Wings  |  FormuSense  |  Problem Statement PS-1, Tiny Dot Foods          Slide 2 of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Bar"/>
          <p:cNvSpPr txBox="1"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F7A4D"/>
          </a:solidFill>
        </p:spPr>
        <p:txBody>
          <a:bodyPr wrap="square" lIns="109728" tIns="45720" rIns="109728" bIns="45720" anchor="t">
            <a:normAutofit/>
          </a:bodyPr>
          <a:lstStyle/>
          <a:p>
            <a:pPr>
              <a:buNone/>
            </a:pPr>
          </a:p>
        </p:txBody>
      </p:sp>
      <p:sp>
        <p:nvSpPr>
          <p:cNvPr id="3" name="SlideTitle"/>
          <p:cNvSpPr txBox="1"/>
          <p:nvPr/>
        </p:nvSpPr>
        <p:spPr>
          <a:xfrm>
            <a:off x="731520" y="384048"/>
            <a:ext cx="10957255" cy="868680"/>
          </a:xfrm>
          <a:prstGeom prst="rect">
            <a:avLst/>
          </a:prstGeom>
          <a:noFill/>
        </p:spPr>
        <p:txBody>
          <a:bodyPr wrap="square" lIns="109728" tIns="45720" rIns="109728" bIns="45720" anchor="t">
            <a:normAutofit/>
          </a:bodyPr>
          <a:lstStyle/>
          <a:p>
            <a:pPr algn="l">
              <a:buNone/>
            </a:pPr>
            <a:r>
              <a:rPr lang="en-US" sz="2800" dirty="0" b="1">
                <a:solidFill>
                  <a:srgbClr val="172320"/>
                </a:solidFill>
                <a:latin typeface="Calibri Light"/>
              </a:rPr>
              <a:t>How the Agent Works</a:t>
            </a:r>
          </a:p>
        </p:txBody>
      </p:sp>
      <p:sp>
        <p:nvSpPr>
          <p:cNvPr id="4" name="Rule"/>
          <p:cNvSpPr txBox="1"/>
          <p:nvPr/>
        </p:nvSpPr>
        <p:spPr>
          <a:xfrm>
            <a:off x="731520" y="1389888"/>
            <a:ext cx="10957255" cy="27432"/>
          </a:xfrm>
          <a:prstGeom prst="rect">
            <a:avLst/>
          </a:prstGeom>
          <a:solidFill>
            <a:srgbClr val="D6DFD9"/>
          </a:solidFill>
        </p:spPr>
        <p:txBody>
          <a:bodyPr wrap="square" lIns="109728" tIns="45720" rIns="109728" bIns="45720" anchor="t">
            <a:normAutofit/>
          </a:bodyPr>
          <a:lstStyle/>
          <a:p>
            <a:pPr>
              <a:buNone/>
            </a:pPr>
          </a:p>
        </p:txBody>
      </p:sp>
      <p:sp>
        <p:nvSpPr>
          <p:cNvPr id="5" name="Band"/>
          <p:cNvSpPr txBox="1"/>
          <p:nvPr/>
        </p:nvSpPr>
        <p:spPr>
          <a:xfrm>
            <a:off x="731520" y="1655064"/>
            <a:ext cx="10957255" cy="652272"/>
          </a:xfrm>
          <a:prstGeom prst="rect">
            <a:avLst/>
          </a:prstGeom>
          <a:solidFill>
            <a:srgbClr val="E7F3EC"/>
          </a:solidFill>
        </p:spPr>
        <p:txBody>
          <a:bodyPr wrap="square" lIns="109728" tIns="45720" rIns="109728" bIns="45720" anchor="t">
            <a:normAutofit/>
          </a:bodyPr>
          <a:lstStyle/>
          <a:p>
            <a:pPr>
              <a:buNone/>
            </a:pPr>
          </a:p>
        </p:txBody>
      </p:sp>
      <p:sp>
        <p:nvSpPr>
          <p:cNvPr id="6" name="Badge"/>
          <p:cNvSpPr/>
          <p:nvPr/>
        </p:nvSpPr>
        <p:spPr>
          <a:xfrm>
            <a:off x="822960" y="1793748"/>
            <a:ext cx="402336" cy="402336"/>
          </a:xfrm>
          <a:prstGeom prst="roundRect">
            <a:avLst/>
          </a:prstGeom>
          <a:solidFill>
            <a:srgbClr val="1F7A4D"/>
          </a:solidFill>
        </p:spPr>
        <p:txBody>
          <a:bodyPr/>
          <a:lstStyle/>
          <a:p>
            <a:pPr>
              <a:buNone/>
            </a:pPr>
          </a:p>
        </p:txBody>
      </p:sp>
      <p:sp>
        <p:nvSpPr>
          <p:cNvPr id="7" name="BadgeNumber"/>
          <p:cNvSpPr txBox="1"/>
          <p:nvPr/>
        </p:nvSpPr>
        <p:spPr>
          <a:xfrm>
            <a:off x="822960" y="1793748"/>
            <a:ext cx="402336" cy="402336"/>
          </a:xfrm>
          <a:prstGeom prst="rect">
            <a:avLst/>
          </a:prstGeom>
          <a:noFill/>
        </p:spPr>
        <p:txBody>
          <a:bodyPr wrap="square" lIns="109728" tIns="45720" rIns="109728" bIns="45720" anchor="ctr">
            <a:normAutofit/>
          </a:bodyPr>
          <a:lstStyle/>
          <a:p>
            <a:pPr algn="ctr">
              <a:buNone/>
            </a:pPr>
            <a:r>
              <a:rPr lang="en-US" sz="1300" dirty="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StepText"/>
          <p:cNvSpPr txBox="1"/>
          <p:nvPr/>
        </p:nvSpPr>
        <p:spPr>
          <a:xfrm>
            <a:off x="1389888" y="1627632"/>
            <a:ext cx="10170871" cy="734568"/>
          </a:xfrm>
          <a:prstGeom prst="rect">
            <a:avLst/>
          </a:prstGeom>
          <a:noFill/>
        </p:spPr>
        <p:txBody>
          <a:bodyPr wrap="square" lIns="109728" tIns="45720" rIns="109728" bIns="45720" anchor="ctr">
            <a:normAutofit/>
          </a:bodyPr>
          <a:lstStyle/>
          <a:p>
            <a:pPr algn="l">
              <a:spcAft>
                <a:spcPts val="100"/>
              </a:spcAft>
              <a:buNone/>
            </a:pPr>
            <a:r>
              <a:rPr lang="en-US" sz="1300" dirty="0" b="1">
                <a:solidFill>
                  <a:srgbClr val="172320"/>
                </a:solidFill>
                <a:latin typeface="Calibri"/>
              </a:rPr>
              <a:t>Understand</a:t>
            </a:r>
          </a:p>
          <a:p>
            <a:pPr algn="l">
              <a:lnSpc>
                <a:spcPct val="95000"/>
              </a:lnSpc>
              <a:buNone/>
            </a:pPr>
            <a:r>
              <a:rPr lang="en-US" sz="1100" dirty="0">
                <a:solidFill>
                  <a:srgbClr val="5C6B62"/>
                </a:solidFill>
                <a:latin typeface="Calibri"/>
              </a:rPr>
              <a:t>The specification becomes targets with tolerances and priorities, read against 95 ingredients.</a:t>
            </a:r>
          </a:p>
        </p:txBody>
      </p:sp>
      <p:sp>
        <p:nvSpPr>
          <p:cNvPr id="9" name="Band"/>
          <p:cNvSpPr txBox="1"/>
          <p:nvPr/>
        </p:nvSpPr>
        <p:spPr>
          <a:xfrm>
            <a:off x="731520" y="2389632"/>
            <a:ext cx="10957255" cy="652272"/>
          </a:xfrm>
          <a:prstGeom prst="rect">
            <a:avLst/>
          </a:prstGeom>
          <a:solidFill>
            <a:srgbClr val="E7F3EC"/>
          </a:solidFill>
        </p:spPr>
        <p:txBody>
          <a:bodyPr wrap="square" lIns="109728" tIns="45720" rIns="109728" bIns="45720" anchor="t">
            <a:normAutofit/>
          </a:bodyPr>
          <a:lstStyle/>
          <a:p>
            <a:pPr>
              <a:buNone/>
            </a:pPr>
          </a:p>
        </p:txBody>
      </p:sp>
      <p:sp>
        <p:nvSpPr>
          <p:cNvPr id="10" name="Badge"/>
          <p:cNvSpPr/>
          <p:nvPr/>
        </p:nvSpPr>
        <p:spPr>
          <a:xfrm>
            <a:off x="822960" y="2528316"/>
            <a:ext cx="402336" cy="402336"/>
          </a:xfrm>
          <a:prstGeom prst="roundRect">
            <a:avLst/>
          </a:prstGeom>
          <a:solidFill>
            <a:srgbClr val="1F7A4D"/>
          </a:solidFill>
        </p:spPr>
        <p:txBody>
          <a:bodyPr/>
          <a:lstStyle/>
          <a:p>
            <a:pPr>
              <a:buNone/>
            </a:pPr>
          </a:p>
        </p:txBody>
      </p:sp>
      <p:sp>
        <p:nvSpPr>
          <p:cNvPr id="11" name="BadgeNumber"/>
          <p:cNvSpPr txBox="1"/>
          <p:nvPr/>
        </p:nvSpPr>
        <p:spPr>
          <a:xfrm>
            <a:off x="822960" y="2528316"/>
            <a:ext cx="402336" cy="402336"/>
          </a:xfrm>
          <a:prstGeom prst="rect">
            <a:avLst/>
          </a:prstGeom>
          <a:noFill/>
        </p:spPr>
        <p:txBody>
          <a:bodyPr wrap="square" lIns="109728" tIns="45720" rIns="109728" bIns="45720" anchor="ctr">
            <a:normAutofit/>
          </a:bodyPr>
          <a:lstStyle/>
          <a:p>
            <a:pPr algn="ctr">
              <a:buNone/>
            </a:pPr>
            <a:r>
              <a:rPr lang="en-US" sz="1300" dirty="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StepText"/>
          <p:cNvSpPr txBox="1"/>
          <p:nvPr/>
        </p:nvSpPr>
        <p:spPr>
          <a:xfrm>
            <a:off x="1389888" y="2362200"/>
            <a:ext cx="10170871" cy="734568"/>
          </a:xfrm>
          <a:prstGeom prst="rect">
            <a:avLst/>
          </a:prstGeom>
          <a:noFill/>
        </p:spPr>
        <p:txBody>
          <a:bodyPr wrap="square" lIns="109728" tIns="45720" rIns="109728" bIns="45720" anchor="ctr">
            <a:normAutofit/>
          </a:bodyPr>
          <a:lstStyle/>
          <a:p>
            <a:pPr algn="l">
              <a:spcAft>
                <a:spcPts val="100"/>
              </a:spcAft>
              <a:buNone/>
            </a:pPr>
            <a:r>
              <a:rPr lang="en-US" sz="1300" dirty="0" b="1">
                <a:solidFill>
                  <a:srgbClr val="172320"/>
                </a:solidFill>
                <a:latin typeface="Calibri"/>
              </a:rPr>
              <a:t>Design</a:t>
            </a:r>
          </a:p>
          <a:p>
            <a:pPr algn="l">
              <a:lnSpc>
                <a:spcPct val="95000"/>
              </a:lnSpc>
              <a:buNone/>
            </a:pPr>
            <a:r>
              <a:rPr lang="en-US" sz="1100" dirty="0">
                <a:solidFill>
                  <a:srgbClr val="5C6B62"/>
                </a:solidFill>
                <a:latin typeface="Calibri"/>
              </a:rPr>
              <a:t>Ingredients fill the category's functional slots and are reconciled to 100 %, acidulants dosed against pH.</a:t>
            </a:r>
          </a:p>
        </p:txBody>
      </p:sp>
      <p:sp>
        <p:nvSpPr>
          <p:cNvPr id="13" name="Band"/>
          <p:cNvSpPr txBox="1"/>
          <p:nvPr/>
        </p:nvSpPr>
        <p:spPr>
          <a:xfrm>
            <a:off x="731520" y="3124200"/>
            <a:ext cx="10957255" cy="652272"/>
          </a:xfrm>
          <a:prstGeom prst="rect">
            <a:avLst/>
          </a:prstGeom>
          <a:solidFill>
            <a:srgbClr val="E7F3EC"/>
          </a:solidFill>
        </p:spPr>
        <p:txBody>
          <a:bodyPr wrap="square" lIns="109728" tIns="45720" rIns="109728" bIns="45720" anchor="t">
            <a:normAutofit/>
          </a:bodyPr>
          <a:lstStyle/>
          <a:p>
            <a:pPr>
              <a:buNone/>
            </a:pPr>
          </a:p>
        </p:txBody>
      </p:sp>
      <p:sp>
        <p:nvSpPr>
          <p:cNvPr id="14" name="Badge"/>
          <p:cNvSpPr/>
          <p:nvPr/>
        </p:nvSpPr>
        <p:spPr>
          <a:xfrm>
            <a:off x="822960" y="3262884"/>
            <a:ext cx="402336" cy="402336"/>
          </a:xfrm>
          <a:prstGeom prst="roundRect">
            <a:avLst/>
          </a:prstGeom>
          <a:solidFill>
            <a:srgbClr val="1F7A4D"/>
          </a:solidFill>
        </p:spPr>
        <p:txBody>
          <a:bodyPr/>
          <a:lstStyle/>
          <a:p>
            <a:pPr>
              <a:buNone/>
            </a:pPr>
          </a:p>
        </p:txBody>
      </p:sp>
      <p:sp>
        <p:nvSpPr>
          <p:cNvPr id="15" name="BadgeNumber"/>
          <p:cNvSpPr txBox="1"/>
          <p:nvPr/>
        </p:nvSpPr>
        <p:spPr>
          <a:xfrm>
            <a:off x="822960" y="3262884"/>
            <a:ext cx="402336" cy="402336"/>
          </a:xfrm>
          <a:prstGeom prst="rect">
            <a:avLst/>
          </a:prstGeom>
          <a:noFill/>
        </p:spPr>
        <p:txBody>
          <a:bodyPr wrap="square" lIns="109728" tIns="45720" rIns="109728" bIns="45720" anchor="ctr">
            <a:normAutofit/>
          </a:bodyPr>
          <a:lstStyle/>
          <a:p>
            <a:pPr algn="ctr">
              <a:buNone/>
            </a:pPr>
            <a:r>
              <a:rPr lang="en-US" sz="1300" dirty="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StepText"/>
          <p:cNvSpPr txBox="1"/>
          <p:nvPr/>
        </p:nvSpPr>
        <p:spPr>
          <a:xfrm>
            <a:off x="1389888" y="3096768"/>
            <a:ext cx="10170871" cy="734568"/>
          </a:xfrm>
          <a:prstGeom prst="rect">
            <a:avLst/>
          </a:prstGeom>
          <a:noFill/>
        </p:spPr>
        <p:txBody>
          <a:bodyPr wrap="square" lIns="109728" tIns="45720" rIns="109728" bIns="45720" anchor="ctr">
            <a:normAutofit/>
          </a:bodyPr>
          <a:lstStyle/>
          <a:p>
            <a:pPr algn="l">
              <a:spcAft>
                <a:spcPts val="100"/>
              </a:spcAft>
              <a:buNone/>
            </a:pPr>
            <a:r>
              <a:rPr lang="en-US" sz="1300" dirty="0" b="1">
                <a:solidFill>
                  <a:srgbClr val="172320"/>
                </a:solidFill>
                <a:latin typeface="Calibri"/>
              </a:rPr>
              <a:t>Predict</a:t>
            </a:r>
          </a:p>
          <a:p>
            <a:pPr algn="l">
              <a:lnSpc>
                <a:spcPct val="95000"/>
              </a:lnSpc>
              <a:buNone/>
            </a:pPr>
            <a:r>
              <a:rPr lang="en-US" sz="1100" dirty="0">
                <a:solidFill>
                  <a:srgbClr val="5C6B62"/>
                </a:solidFill>
                <a:latin typeface="Calibri"/>
              </a:rPr>
              <a:t>Mass balance, energy, water activity, pH, texture, stability and cost - each with a stated uncertainty.</a:t>
            </a:r>
          </a:p>
        </p:txBody>
      </p:sp>
      <p:sp>
        <p:nvSpPr>
          <p:cNvPr id="17" name="Band"/>
          <p:cNvSpPr txBox="1"/>
          <p:nvPr/>
        </p:nvSpPr>
        <p:spPr>
          <a:xfrm>
            <a:off x="731520" y="3858768"/>
            <a:ext cx="10957255" cy="652272"/>
          </a:xfrm>
          <a:prstGeom prst="rect">
            <a:avLst/>
          </a:prstGeom>
          <a:solidFill>
            <a:srgbClr val="E7F3EC"/>
          </a:solidFill>
        </p:spPr>
        <p:txBody>
          <a:bodyPr wrap="square" lIns="109728" tIns="45720" rIns="109728" bIns="45720" anchor="t">
            <a:normAutofit/>
          </a:bodyPr>
          <a:lstStyle/>
          <a:p>
            <a:pPr>
              <a:buNone/>
            </a:pPr>
          </a:p>
        </p:txBody>
      </p:sp>
      <p:sp>
        <p:nvSpPr>
          <p:cNvPr id="18" name="Badge"/>
          <p:cNvSpPr/>
          <p:nvPr/>
        </p:nvSpPr>
        <p:spPr>
          <a:xfrm>
            <a:off x="822960" y="3997452"/>
            <a:ext cx="402336" cy="402336"/>
          </a:xfrm>
          <a:prstGeom prst="roundRect">
            <a:avLst/>
          </a:prstGeom>
          <a:solidFill>
            <a:srgbClr val="1F7A4D"/>
          </a:solidFill>
        </p:spPr>
        <p:txBody>
          <a:bodyPr/>
          <a:lstStyle/>
          <a:p>
            <a:pPr>
              <a:buNone/>
            </a:pPr>
          </a:p>
        </p:txBody>
      </p:sp>
      <p:sp>
        <p:nvSpPr>
          <p:cNvPr id="19" name="BadgeNumber"/>
          <p:cNvSpPr txBox="1"/>
          <p:nvPr/>
        </p:nvSpPr>
        <p:spPr>
          <a:xfrm>
            <a:off x="822960" y="3997452"/>
            <a:ext cx="402336" cy="402336"/>
          </a:xfrm>
          <a:prstGeom prst="rect">
            <a:avLst/>
          </a:prstGeom>
          <a:noFill/>
        </p:spPr>
        <p:txBody>
          <a:bodyPr wrap="square" lIns="109728" tIns="45720" rIns="109728" bIns="45720" anchor="ctr">
            <a:normAutofit/>
          </a:bodyPr>
          <a:lstStyle/>
          <a:p>
            <a:pPr algn="ctr">
              <a:buNone/>
            </a:pPr>
            <a:r>
              <a:rPr lang="en-US" sz="1300" dirty="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StepText"/>
          <p:cNvSpPr txBox="1"/>
          <p:nvPr/>
        </p:nvSpPr>
        <p:spPr>
          <a:xfrm>
            <a:off x="1389888" y="3831336"/>
            <a:ext cx="10170871" cy="734568"/>
          </a:xfrm>
          <a:prstGeom prst="rect">
            <a:avLst/>
          </a:prstGeom>
          <a:noFill/>
        </p:spPr>
        <p:txBody>
          <a:bodyPr wrap="square" lIns="109728" tIns="45720" rIns="109728" bIns="45720" anchor="ctr">
            <a:normAutofit/>
          </a:bodyPr>
          <a:lstStyle/>
          <a:p>
            <a:pPr algn="l">
              <a:spcAft>
                <a:spcPts val="100"/>
              </a:spcAft>
              <a:buNone/>
            </a:pPr>
            <a:r>
              <a:rPr lang="en-US" sz="1300" dirty="0" b="1">
                <a:solidFill>
                  <a:srgbClr val="172320"/>
                </a:solidFill>
                <a:latin typeface="Calibri"/>
              </a:rPr>
              <a:t>Optimise</a:t>
            </a:r>
          </a:p>
          <a:p>
            <a:pPr algn="l">
              <a:lnSpc>
                <a:spcPct val="95000"/>
              </a:lnSpc>
              <a:buNone/>
            </a:pPr>
            <a:r>
              <a:rPr lang="en-US" sz="1100" dirty="0">
                <a:solidFill>
                  <a:srgbClr val="5C6B62"/>
                </a:solidFill>
                <a:latin typeface="Calibri"/>
              </a:rPr>
              <a:t>Coordinate pattern search over the recipe and the process together, with an accepted-move log.</a:t>
            </a:r>
          </a:p>
        </p:txBody>
      </p:sp>
      <p:sp>
        <p:nvSpPr>
          <p:cNvPr id="21" name="Band"/>
          <p:cNvSpPr txBox="1"/>
          <p:nvPr/>
        </p:nvSpPr>
        <p:spPr>
          <a:xfrm>
            <a:off x="731520" y="4593336"/>
            <a:ext cx="10957255" cy="652272"/>
          </a:xfrm>
          <a:prstGeom prst="rect">
            <a:avLst/>
          </a:prstGeom>
          <a:solidFill>
            <a:srgbClr val="E7F3EC"/>
          </a:solidFill>
        </p:spPr>
        <p:txBody>
          <a:bodyPr wrap="square" lIns="109728" tIns="45720" rIns="109728" bIns="45720" anchor="t">
            <a:normAutofit/>
          </a:bodyPr>
          <a:lstStyle/>
          <a:p>
            <a:pPr>
              <a:buNone/>
            </a:pPr>
          </a:p>
        </p:txBody>
      </p:sp>
      <p:sp>
        <p:nvSpPr>
          <p:cNvPr id="22" name="Badge"/>
          <p:cNvSpPr/>
          <p:nvPr/>
        </p:nvSpPr>
        <p:spPr>
          <a:xfrm>
            <a:off x="822960" y="4732020"/>
            <a:ext cx="402336" cy="402336"/>
          </a:xfrm>
          <a:prstGeom prst="roundRect">
            <a:avLst/>
          </a:prstGeom>
          <a:solidFill>
            <a:srgbClr val="1F7A4D"/>
          </a:solidFill>
        </p:spPr>
        <p:txBody>
          <a:bodyPr/>
          <a:lstStyle/>
          <a:p>
            <a:pPr>
              <a:buNone/>
            </a:pPr>
          </a:p>
        </p:txBody>
      </p:sp>
      <p:sp>
        <p:nvSpPr>
          <p:cNvPr id="23" name="BadgeNumber"/>
          <p:cNvSpPr txBox="1"/>
          <p:nvPr/>
        </p:nvSpPr>
        <p:spPr>
          <a:xfrm>
            <a:off x="822960" y="4732020"/>
            <a:ext cx="402336" cy="402336"/>
          </a:xfrm>
          <a:prstGeom prst="rect">
            <a:avLst/>
          </a:prstGeom>
          <a:noFill/>
        </p:spPr>
        <p:txBody>
          <a:bodyPr wrap="square" lIns="109728" tIns="45720" rIns="109728" bIns="45720" anchor="ctr">
            <a:normAutofit/>
          </a:bodyPr>
          <a:lstStyle/>
          <a:p>
            <a:pPr algn="ctr">
              <a:buNone/>
            </a:pPr>
            <a:r>
              <a:rPr lang="en-US" sz="1300" dirty="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4" name="StepText"/>
          <p:cNvSpPr txBox="1"/>
          <p:nvPr/>
        </p:nvSpPr>
        <p:spPr>
          <a:xfrm>
            <a:off x="1389888" y="4565904"/>
            <a:ext cx="10170871" cy="734568"/>
          </a:xfrm>
          <a:prstGeom prst="rect">
            <a:avLst/>
          </a:prstGeom>
          <a:noFill/>
        </p:spPr>
        <p:txBody>
          <a:bodyPr wrap="square" lIns="109728" tIns="45720" rIns="109728" bIns="45720" anchor="ctr">
            <a:normAutofit/>
          </a:bodyPr>
          <a:lstStyle/>
          <a:p>
            <a:pPr algn="l">
              <a:spcAft>
                <a:spcPts val="100"/>
              </a:spcAft>
              <a:buNone/>
            </a:pPr>
            <a:r>
              <a:rPr lang="en-US" sz="1300" dirty="0" b="1">
                <a:solidFill>
                  <a:srgbClr val="172320"/>
                </a:solidFill>
                <a:latin typeface="Calibri"/>
              </a:rPr>
              <a:t>Trial and diagnose</a:t>
            </a:r>
          </a:p>
          <a:p>
            <a:pPr algn="l">
              <a:lnSpc>
                <a:spcPct val="95000"/>
              </a:lnSpc>
              <a:buNone/>
            </a:pPr>
            <a:r>
              <a:rPr lang="en-US" sz="1100" dirty="0">
                <a:solidFill>
                  <a:srgbClr val="5C6B62"/>
                </a:solidFill>
                <a:latin typeface="Calibri"/>
              </a:rPr>
              <a:t>A simulated plant with real line faults; residuals in sigma units, a probable cause named with its evidence.</a:t>
            </a:r>
          </a:p>
        </p:txBody>
      </p:sp>
      <p:sp>
        <p:nvSpPr>
          <p:cNvPr id="25" name="Band"/>
          <p:cNvSpPr txBox="1"/>
          <p:nvPr/>
        </p:nvSpPr>
        <p:spPr>
          <a:xfrm>
            <a:off x="731520" y="5327904"/>
            <a:ext cx="10957255" cy="652272"/>
          </a:xfrm>
          <a:prstGeom prst="rect">
            <a:avLst/>
          </a:prstGeom>
          <a:solidFill>
            <a:srgbClr val="E7F3EC"/>
          </a:solidFill>
        </p:spPr>
        <p:txBody>
          <a:bodyPr wrap="square" lIns="109728" tIns="45720" rIns="109728" bIns="45720" anchor="t">
            <a:normAutofit/>
          </a:bodyPr>
          <a:lstStyle/>
          <a:p>
            <a:pPr>
              <a:buNone/>
            </a:pPr>
          </a:p>
        </p:txBody>
      </p:sp>
      <p:sp>
        <p:nvSpPr>
          <p:cNvPr id="26" name="Badge"/>
          <p:cNvSpPr/>
          <p:nvPr/>
        </p:nvSpPr>
        <p:spPr>
          <a:xfrm>
            <a:off x="822960" y="5466588"/>
            <a:ext cx="402336" cy="402336"/>
          </a:xfrm>
          <a:prstGeom prst="roundRect">
            <a:avLst/>
          </a:prstGeom>
          <a:solidFill>
            <a:srgbClr val="1F7A4D"/>
          </a:solidFill>
        </p:spPr>
        <p:txBody>
          <a:bodyPr/>
          <a:lstStyle/>
          <a:p>
            <a:pPr>
              <a:buNone/>
            </a:pPr>
          </a:p>
        </p:txBody>
      </p:sp>
      <p:sp>
        <p:nvSpPr>
          <p:cNvPr id="27" name="BadgeNumber"/>
          <p:cNvSpPr txBox="1"/>
          <p:nvPr/>
        </p:nvSpPr>
        <p:spPr>
          <a:xfrm>
            <a:off x="822960" y="5466588"/>
            <a:ext cx="402336" cy="402336"/>
          </a:xfrm>
          <a:prstGeom prst="rect">
            <a:avLst/>
          </a:prstGeom>
          <a:noFill/>
        </p:spPr>
        <p:txBody>
          <a:bodyPr wrap="square" lIns="109728" tIns="45720" rIns="109728" bIns="45720" anchor="ctr">
            <a:normAutofit/>
          </a:bodyPr>
          <a:lstStyle/>
          <a:p>
            <a:pPr algn="ctr">
              <a:buNone/>
            </a:pPr>
            <a:r>
              <a:rPr lang="en-US" sz="1300" dirty="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8" name="StepText"/>
          <p:cNvSpPr txBox="1"/>
          <p:nvPr/>
        </p:nvSpPr>
        <p:spPr>
          <a:xfrm>
            <a:off x="1389888" y="5300472"/>
            <a:ext cx="10170871" cy="734568"/>
          </a:xfrm>
          <a:prstGeom prst="rect">
            <a:avLst/>
          </a:prstGeom>
          <a:noFill/>
        </p:spPr>
        <p:txBody>
          <a:bodyPr wrap="square" lIns="109728" tIns="45720" rIns="109728" bIns="45720" anchor="ctr">
            <a:normAutofit/>
          </a:bodyPr>
          <a:lstStyle/>
          <a:p>
            <a:pPr algn="l">
              <a:spcAft>
                <a:spcPts val="100"/>
              </a:spcAft>
              <a:buNone/>
            </a:pPr>
            <a:r>
              <a:rPr lang="en-US" sz="1300" dirty="0" b="1">
                <a:solidFill>
                  <a:srgbClr val="172320"/>
                </a:solidFill>
                <a:latin typeface="Calibri"/>
              </a:rPr>
              <a:t>Correct and record</a:t>
            </a:r>
          </a:p>
          <a:p>
            <a:pPr algn="l">
              <a:lnSpc>
                <a:spcPct val="95000"/>
              </a:lnSpc>
              <a:buNone/>
            </a:pPr>
            <a:r>
              <a:rPr lang="en-US" sz="1100" dirty="0">
                <a:solidFill>
                  <a:srgbClr val="5C6B62"/>
                </a:solidFill>
                <a:latin typeface="Calibri"/>
              </a:rPr>
              <a:t>Measured offsets become setpoint corrections before the recipe changes; every version is stored.</a:t>
            </a:r>
          </a:p>
        </p:txBody>
      </p:sp>
      <p:sp>
        <p:nvSpPr>
          <p:cNvPr id="29" name="Footer"/>
          <p:cNvSpPr txBox="1"/>
          <p:nvPr/>
        </p:nvSpPr>
        <p:spPr>
          <a:xfrm>
            <a:off x="731520" y="6236208"/>
            <a:ext cx="10957255" cy="310896"/>
          </a:xfrm>
          <a:prstGeom prst="rect">
            <a:avLst/>
          </a:prstGeom>
          <a:noFill/>
        </p:spPr>
        <p:txBody>
          <a:bodyPr wrap="square" lIns="109728" tIns="45720" rIns="109728" bIns="45720" anchor="t">
            <a:normAutofit/>
          </a:bodyPr>
          <a:lstStyle/>
          <a:p>
            <a:pPr algn="l">
              <a:buNone/>
            </a:pPr>
            <a:r>
              <a:rPr lang="en-US" sz="950" dirty="0">
                <a:solidFill>
                  <a:srgbClr val="5C6B62"/>
                </a:solidFill>
                <a:latin typeface="Calibri"/>
              </a:rPr>
              <a:t>Technostatic Wings  |  FormuSense  |  Problem Statement PS-1, Tiny Dot Foods          Slide 3 of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Bar"/>
          <p:cNvSpPr txBox="1"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F7A4D"/>
          </a:solidFill>
        </p:spPr>
        <p:txBody>
          <a:bodyPr wrap="square" lIns="109728" tIns="45720" rIns="109728" bIns="45720" anchor="t">
            <a:normAutofit/>
          </a:bodyPr>
          <a:lstStyle/>
          <a:p>
            <a:pPr>
              <a:buNone/>
            </a:pPr>
          </a:p>
        </p:txBody>
      </p:sp>
      <p:sp>
        <p:nvSpPr>
          <p:cNvPr id="3" name="SlideTitle"/>
          <p:cNvSpPr txBox="1"/>
          <p:nvPr/>
        </p:nvSpPr>
        <p:spPr>
          <a:xfrm>
            <a:off x="731520" y="384048"/>
            <a:ext cx="10957255" cy="868680"/>
          </a:xfrm>
          <a:prstGeom prst="rect">
            <a:avLst/>
          </a:prstGeom>
          <a:noFill/>
        </p:spPr>
        <p:txBody>
          <a:bodyPr wrap="square" lIns="109728" tIns="45720" rIns="109728" bIns="45720" anchor="t">
            <a:normAutofit/>
          </a:bodyPr>
          <a:lstStyle/>
          <a:p>
            <a:pPr algn="l">
              <a:buNone/>
            </a:pPr>
            <a:r>
              <a:rPr lang="en-US" sz="2800" dirty="0" b="1">
                <a:solidFill>
                  <a:srgbClr val="172320"/>
                </a:solidFill>
                <a:latin typeface="Calibri Light"/>
              </a:rPr>
              <a:t>Evidence: Trial-Efficiency Benchmark</a:t>
            </a:r>
          </a:p>
        </p:txBody>
      </p:sp>
      <p:sp>
        <p:nvSpPr>
          <p:cNvPr id="4" name="Rule"/>
          <p:cNvSpPr txBox="1"/>
          <p:nvPr/>
        </p:nvSpPr>
        <p:spPr>
          <a:xfrm>
            <a:off x="731520" y="1389888"/>
            <a:ext cx="10957255" cy="27432"/>
          </a:xfrm>
          <a:prstGeom prst="rect">
            <a:avLst/>
          </a:prstGeom>
          <a:solidFill>
            <a:srgbClr val="D6DFD9"/>
          </a:solidFill>
        </p:spPr>
        <p:txBody>
          <a:bodyPr wrap="square" lIns="109728" tIns="45720" rIns="109728" bIns="45720" anchor="t">
            <a:normAutofit/>
          </a:bodyPr>
          <a:lstStyle/>
          <a:p>
            <a:pPr>
              <a:buNone/>
            </a:pPr>
          </a:p>
        </p:txBody>
      </p:sp>
      <p:sp>
        <p:nvSpPr>
          <p:cNvPr id="5" name="Card"/>
          <p:cNvSpPr/>
          <p:nvPr/>
        </p:nvSpPr>
        <p:spPr>
          <a:xfrm>
            <a:off x="731520" y="1627632"/>
            <a:ext cx="3542690" cy="1051560"/>
          </a:xfrm>
          <a:prstGeom prst="roundRect">
            <a:avLst/>
          </a:prstGeom>
          <a:solidFill>
            <a:srgbClr val="E7F3EC"/>
          </a:solidFill>
          <a:ln w="9525">
            <a:solidFill>
              <a:srgbClr val="D6DFD9"/>
            </a:solidFill>
          </a:ln>
        </p:spPr>
        <p:txBody>
          <a:bodyPr/>
          <a:lstStyle/>
          <a:p>
            <a:pPr>
              <a:buNone/>
            </a:pPr>
          </a:p>
        </p:txBody>
      </p:sp>
      <p:sp>
        <p:nvSpPr>
          <p:cNvPr id="6" name="CardText"/>
          <p:cNvSpPr txBox="1"/>
          <p:nvPr/>
        </p:nvSpPr>
        <p:spPr>
          <a:xfrm>
            <a:off x="859536" y="1719072"/>
            <a:ext cx="3286658" cy="868680"/>
          </a:xfrm>
          <a:prstGeom prst="rect">
            <a:avLst/>
          </a:prstGeom>
          <a:noFill/>
        </p:spPr>
        <p:txBody>
          <a:bodyPr wrap="square" lIns="109728" tIns="45720" rIns="109728" bIns="45720" anchor="ctr">
            <a:norm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en-US" sz="2600" dirty="0" b="1">
                <a:solidFill>
                  <a:srgbClr val="1F7A4D"/>
                </a:solidFill>
                <a:latin typeface="Calibri Light"/>
              </a:rPr>
              <a:t>2.75</a:t>
            </a:r>
          </a:p>
          <a:p>
            <a:pPr algn="l">
              <a:spcAft>
                <a:spcPts val="200"/>
              </a:spcAft>
              <a:buNone/>
            </a:pPr>
            <a:r>
              <a:rPr lang="en-US" sz="1250" dirty="0" b="1">
                <a:solidFill>
                  <a:srgbClr val="172320"/>
                </a:solidFill>
                <a:latin typeface="Calibri"/>
              </a:rPr>
              <a:t>trials to target, agent</a:t>
            </a:r>
          </a:p>
          <a:p>
            <a:pPr algn="l">
              <a:buNone/>
            </a:pPr>
            <a:r>
              <a:rPr lang="en-US" sz="1050" dirty="0">
                <a:solidFill>
                  <a:srgbClr val="5C6B62"/>
                </a:solidFill>
                <a:latin typeface="Calibri"/>
              </a:rPr>
              <a:t>mean over 4 products</a:t>
            </a:r>
          </a:p>
        </p:txBody>
      </p:sp>
      <p:sp>
        <p:nvSpPr>
          <p:cNvPr id="7" name="Card"/>
          <p:cNvSpPr/>
          <p:nvPr/>
        </p:nvSpPr>
        <p:spPr>
          <a:xfrm>
            <a:off x="4438802" y="1627632"/>
            <a:ext cx="3542690" cy="1051560"/>
          </a:xfrm>
          <a:prstGeom prst="roundRect">
            <a:avLst/>
          </a:prstGeom>
          <a:solidFill>
            <a:srgbClr val="E7F3EC"/>
          </a:solidFill>
          <a:ln w="9525">
            <a:solidFill>
              <a:srgbClr val="D6DFD9"/>
            </a:solidFill>
          </a:ln>
        </p:spPr>
        <p:txBody>
          <a:bodyPr/>
          <a:lstStyle/>
          <a:p>
            <a:pPr>
              <a:buNone/>
            </a:pPr>
          </a:p>
        </p:txBody>
      </p:sp>
      <p:sp>
        <p:nvSpPr>
          <p:cNvPr id="8" name="CardText"/>
          <p:cNvSpPr txBox="1"/>
          <p:nvPr/>
        </p:nvSpPr>
        <p:spPr>
          <a:xfrm>
            <a:off x="4566818" y="1719072"/>
            <a:ext cx="3286658" cy="868680"/>
          </a:xfrm>
          <a:prstGeom prst="rect">
            <a:avLst/>
          </a:prstGeom>
          <a:noFill/>
        </p:spPr>
        <p:txBody>
          <a:bodyPr wrap="square" lIns="109728" tIns="45720" rIns="109728" bIns="45720" anchor="ctr">
            <a:norm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en-US" sz="2600" dirty="0" b="1">
                <a:solidFill>
                  <a:srgbClr val="1F7A4D"/>
                </a:solidFill>
                <a:latin typeface="Calibri Light"/>
              </a:rPr>
              <a:t>7</a:t>
            </a:r>
          </a:p>
          <a:p>
            <a:pPr algn="l">
              <a:spcAft>
                <a:spcPts val="200"/>
              </a:spcAft>
              <a:buNone/>
            </a:pPr>
            <a:r>
              <a:rPr lang="en-US" sz="1250" dirty="0" b="1">
                <a:solidFill>
                  <a:srgbClr val="172320"/>
                </a:solidFill>
                <a:latin typeface="Calibri"/>
              </a:rPr>
              <a:t>trials, one-factor-at-a-time</a:t>
            </a:r>
          </a:p>
          <a:p>
            <a:pPr algn="l">
              <a:buNone/>
            </a:pPr>
            <a:r>
              <a:rPr lang="en-US" sz="1050" dirty="0">
                <a:solidFill>
                  <a:srgbClr val="5C6B62"/>
                </a:solidFill>
                <a:latin typeface="Calibri"/>
              </a:rPr>
              <a:t>same budget, same gate</a:t>
            </a:r>
          </a:p>
        </p:txBody>
      </p:sp>
      <p:sp>
        <p:nvSpPr>
          <p:cNvPr id="9" name="Card"/>
          <p:cNvSpPr/>
          <p:nvPr/>
        </p:nvSpPr>
        <p:spPr>
          <a:xfrm>
            <a:off x="8146085" y="1627632"/>
            <a:ext cx="3542690" cy="1051560"/>
          </a:xfrm>
          <a:prstGeom prst="roundRect">
            <a:avLst/>
          </a:prstGeom>
          <a:solidFill>
            <a:srgbClr val="E7F3EC"/>
          </a:solidFill>
          <a:ln w="9525">
            <a:solidFill>
              <a:srgbClr val="D6DFD9"/>
            </a:solidFill>
          </a:ln>
        </p:spPr>
        <p:txBody>
          <a:bodyPr/>
          <a:lstStyle/>
          <a:p>
            <a:pPr>
              <a:buNone/>
            </a:pPr>
          </a:p>
        </p:txBody>
      </p:sp>
      <p:sp>
        <p:nvSpPr>
          <p:cNvPr id="10" name="CardText"/>
          <p:cNvSpPr txBox="1"/>
          <p:nvPr/>
        </p:nvSpPr>
        <p:spPr>
          <a:xfrm>
            <a:off x="8274101" y="1719072"/>
            <a:ext cx="3286658" cy="868680"/>
          </a:xfrm>
          <a:prstGeom prst="rect">
            <a:avLst/>
          </a:prstGeom>
          <a:noFill/>
        </p:spPr>
        <p:txBody>
          <a:bodyPr wrap="square" lIns="109728" tIns="45720" rIns="109728" bIns="45720" anchor="ctr">
            <a:norm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en-US" sz="2600" dirty="0" b="1">
                <a:solidFill>
                  <a:srgbClr val="1F7A4D"/>
                </a:solidFill>
                <a:latin typeface="Calibri Light"/>
              </a:rPr>
              <a:t>4.25</a:t>
            </a:r>
          </a:p>
          <a:p>
            <a:pPr algn="l">
              <a:spcAft>
                <a:spcPts val="200"/>
              </a:spcAft>
              <a:buNone/>
            </a:pPr>
            <a:r>
              <a:rPr lang="en-US" sz="1250" dirty="0" b="1">
                <a:solidFill>
                  <a:srgbClr val="172320"/>
                </a:solidFill>
                <a:latin typeface="Calibri"/>
              </a:rPr>
              <a:t>trials saved per product</a:t>
            </a:r>
          </a:p>
          <a:p>
            <a:pPr algn="l">
              <a:buNone/>
            </a:pPr>
            <a:r>
              <a:rPr lang="en-US" sz="1050" dirty="0">
                <a:solidFill>
                  <a:srgbClr val="5C6B62"/>
                </a:solidFill>
                <a:latin typeface="Calibri"/>
              </a:rPr>
              <a:t>the cost this work removes</a:t>
            </a:r>
          </a:p>
        </p:txBody>
      </p:sp>
      <p:sp>
        <p:nvSpPr>
          <p:cNvPr id="11" name="BarLabel"/>
          <p:cNvSpPr txBox="1"/>
          <p:nvPr/>
        </p:nvSpPr>
        <p:spPr>
          <a:xfrm>
            <a:off x="731520" y="2930652"/>
            <a:ext cx="3108960" cy="457200"/>
          </a:xfrm>
          <a:prstGeom prst="rect">
            <a:avLst/>
          </a:prstGeom>
          <a:noFill/>
        </p:spPr>
        <p:txBody>
          <a:bodyPr wrap="square" lIns="109728" tIns="45720" rIns="109728" bIns="45720" anchor="ctr">
            <a:normAutofit/>
          </a:bodyPr>
          <a:lstStyle/>
          <a:p>
            <a:pPr algn="l">
              <a:lnSpc>
                <a:spcPct val="95000"/>
              </a:lnSpc>
              <a:buNone/>
            </a:pPr>
            <a:r>
              <a:rPr lang="en-US" sz="1150" dirty="0">
                <a:solidFill>
                  <a:srgbClr val="172320"/>
                </a:solidFill>
                <a:latin typeface="Calibri"/>
              </a:rPr>
              <a:t>High-protein masala namkeen pellet</a:t>
            </a:r>
          </a:p>
        </p:txBody>
      </p:sp>
      <p:sp>
        <p:nvSpPr>
          <p:cNvPr id="12" name="Track"/>
          <p:cNvSpPr/>
          <p:nvPr/>
        </p:nvSpPr>
        <p:spPr>
          <a:xfrm>
            <a:off x="3931920" y="3026664"/>
            <a:ext cx="6202375" cy="109728"/>
          </a:xfrm>
          <a:prstGeom prst="rect">
            <a:avLst/>
          </a:prstGeom>
          <a:solidFill>
            <a:srgbClr val="E7F3EC"/>
          </a:solidFill>
        </p:spPr>
        <p:txBody>
          <a:bodyPr/>
          <a:lstStyle/>
          <a:p>
            <a:pPr>
              <a:buNone/>
            </a:pPr>
          </a:p>
        </p:txBody>
      </p:sp>
      <p:sp>
        <p:nvSpPr>
          <p:cNvPr id="13" name="Bar"/>
          <p:cNvSpPr/>
          <p:nvPr/>
        </p:nvSpPr>
        <p:spPr>
          <a:xfrm>
            <a:off x="3931920" y="3026664"/>
            <a:ext cx="3101188" cy="109728"/>
          </a:xfrm>
          <a:prstGeom prst="rect">
            <a:avLst/>
          </a:prstGeom>
          <a:solidFill>
            <a:srgbClr val="1F7A4D"/>
          </a:solidFill>
        </p:spPr>
        <p:txBody>
          <a:bodyPr/>
          <a:lstStyle/>
          <a:p>
            <a:pPr>
              <a:buNone/>
            </a:pPr>
          </a:p>
        </p:txBody>
      </p:sp>
      <p:sp>
        <p:nvSpPr>
          <p:cNvPr id="14" name="BarValue"/>
          <p:cNvSpPr txBox="1"/>
          <p:nvPr/>
        </p:nvSpPr>
        <p:spPr>
          <a:xfrm>
            <a:off x="10207447" y="2990088"/>
            <a:ext cx="1463040" cy="182880"/>
          </a:xfrm>
          <a:prstGeom prst="rect">
            <a:avLst/>
          </a:prstGeom>
          <a:noFill/>
        </p:spPr>
        <p:txBody>
          <a:bodyPr wrap="square" lIns="36576" tIns="0" rIns="36576" bIns="0" anchor="ctr">
            <a:normAutofit/>
          </a:bodyPr>
          <a:lstStyle/>
          <a:p>
            <a:pPr algn="l">
              <a:buNone/>
            </a:pPr>
            <a:r>
              <a:rPr lang="en-US" sz="1000" dirty="0" b="1">
                <a:solidFill>
                  <a:srgbClr val="172320"/>
                </a:solidFill>
                <a:latin typeface="Calibri"/>
              </a:rPr>
              <a:t>3 trials</a:t>
            </a:r>
          </a:p>
        </p:txBody>
      </p:sp>
      <p:sp>
        <p:nvSpPr>
          <p:cNvPr id="15" name="Track"/>
          <p:cNvSpPr/>
          <p:nvPr/>
        </p:nvSpPr>
        <p:spPr>
          <a:xfrm>
            <a:off x="3931920" y="3182112"/>
            <a:ext cx="6202375" cy="109728"/>
          </a:xfrm>
          <a:prstGeom prst="rect">
            <a:avLst/>
          </a:prstGeom>
          <a:solidFill>
            <a:srgbClr val="E7F3EC"/>
          </a:solidFill>
        </p:spPr>
        <p:txBody>
          <a:bodyPr/>
          <a:lstStyle/>
          <a:p>
            <a:pPr>
              <a:buNone/>
            </a:pPr>
          </a:p>
        </p:txBody>
      </p:sp>
      <p:sp>
        <p:nvSpPr>
          <p:cNvPr id="16" name="BarValue"/>
          <p:cNvSpPr txBox="1"/>
          <p:nvPr/>
        </p:nvSpPr>
        <p:spPr>
          <a:xfrm>
            <a:off x="10207447" y="3145536"/>
            <a:ext cx="1463040" cy="182880"/>
          </a:xfrm>
          <a:prstGeom prst="rect">
            <a:avLst/>
          </a:prstGeom>
          <a:noFill/>
        </p:spPr>
        <p:txBody>
          <a:bodyPr wrap="square" lIns="36576" tIns="0" rIns="36576" bIns="0" anchor="ctr">
            <a:normAutofit/>
          </a:bodyPr>
          <a:lstStyle/>
          <a:p>
            <a:pPr algn="l">
              <a:buNone/>
            </a:pPr>
            <a:r>
              <a:rPr lang="en-US" sz="1000" dirty="0" b="1">
                <a:solidFill>
                  <a:srgbClr val="172320"/>
                </a:solidFill>
                <a:latin typeface="Calibri"/>
              </a:rPr>
              <a:t>not reached</a:t>
            </a:r>
          </a:p>
        </p:txBody>
      </p:sp>
      <p:sp>
        <p:nvSpPr>
          <p:cNvPr id="17" name="BarLabel"/>
          <p:cNvSpPr txBox="1"/>
          <p:nvPr/>
        </p:nvSpPr>
        <p:spPr>
          <a:xfrm>
            <a:off x="731520" y="3387852"/>
            <a:ext cx="3108960" cy="457200"/>
          </a:xfrm>
          <a:prstGeom prst="rect">
            <a:avLst/>
          </a:prstGeom>
          <a:noFill/>
        </p:spPr>
        <p:txBody>
          <a:bodyPr wrap="square" lIns="109728" tIns="45720" rIns="109728" bIns="45720" anchor="ctr">
            <a:normAutofit/>
          </a:bodyPr>
          <a:lstStyle/>
          <a:p>
            <a:pPr algn="l">
              <a:lnSpc>
                <a:spcPct val="95000"/>
              </a:lnSpc>
              <a:buNone/>
            </a:pPr>
            <a:r>
              <a:rPr lang="en-US" sz="1150" dirty="0">
                <a:solidFill>
                  <a:srgbClr val="172320"/>
                </a:solidFill>
                <a:latin typeface="Calibri"/>
              </a:rPr>
              <a:t>High-protein high-fibre ragi cookie</a:t>
            </a:r>
          </a:p>
        </p:txBody>
      </p:sp>
      <p:sp>
        <p:nvSpPr>
          <p:cNvPr id="18" name="Track"/>
          <p:cNvSpPr/>
          <p:nvPr/>
        </p:nvSpPr>
        <p:spPr>
          <a:xfrm>
            <a:off x="3931920" y="3483864"/>
            <a:ext cx="6202375" cy="109728"/>
          </a:xfrm>
          <a:prstGeom prst="rect">
            <a:avLst/>
          </a:prstGeom>
          <a:solidFill>
            <a:srgbClr val="E7F3EC"/>
          </a:solidFill>
        </p:spPr>
        <p:txBody>
          <a:bodyPr/>
          <a:lstStyle/>
          <a:p>
            <a:pPr>
              <a:buNone/>
            </a:pPr>
          </a:p>
        </p:txBody>
      </p:sp>
      <p:sp>
        <p:nvSpPr>
          <p:cNvPr id="19" name="Bar"/>
          <p:cNvSpPr/>
          <p:nvPr/>
        </p:nvSpPr>
        <p:spPr>
          <a:xfrm>
            <a:off x="3931920" y="3483864"/>
            <a:ext cx="3101188" cy="109728"/>
          </a:xfrm>
          <a:prstGeom prst="rect">
            <a:avLst/>
          </a:prstGeom>
          <a:solidFill>
            <a:srgbClr val="1F7A4D"/>
          </a:solidFill>
        </p:spPr>
        <p:txBody>
          <a:bodyPr/>
          <a:lstStyle/>
          <a:p>
            <a:pPr>
              <a:buNone/>
            </a:pPr>
          </a:p>
        </p:txBody>
      </p:sp>
      <p:sp>
        <p:nvSpPr>
          <p:cNvPr id="20" name="BarValue"/>
          <p:cNvSpPr txBox="1"/>
          <p:nvPr/>
        </p:nvSpPr>
        <p:spPr>
          <a:xfrm>
            <a:off x="10207447" y="3447288"/>
            <a:ext cx="1463040" cy="182880"/>
          </a:xfrm>
          <a:prstGeom prst="rect">
            <a:avLst/>
          </a:prstGeom>
          <a:noFill/>
        </p:spPr>
        <p:txBody>
          <a:bodyPr wrap="square" lIns="36576" tIns="0" rIns="36576" bIns="0" anchor="ctr">
            <a:normAutofit/>
          </a:bodyPr>
          <a:lstStyle/>
          <a:p>
            <a:pPr algn="l">
              <a:buNone/>
            </a:pPr>
            <a:r>
              <a:rPr lang="en-US" sz="1000" dirty="0" b="1">
                <a:solidFill>
                  <a:srgbClr val="172320"/>
                </a:solidFill>
                <a:latin typeface="Calibri"/>
              </a:rPr>
              <a:t>3 trials</a:t>
            </a:r>
          </a:p>
        </p:txBody>
      </p:sp>
      <p:sp>
        <p:nvSpPr>
          <p:cNvPr id="21" name="Track"/>
          <p:cNvSpPr/>
          <p:nvPr/>
        </p:nvSpPr>
        <p:spPr>
          <a:xfrm>
            <a:off x="3931920" y="3639312"/>
            <a:ext cx="6202375" cy="109728"/>
          </a:xfrm>
          <a:prstGeom prst="rect">
            <a:avLst/>
          </a:prstGeom>
          <a:solidFill>
            <a:srgbClr val="E7F3EC"/>
          </a:solidFill>
        </p:spPr>
        <p:txBody>
          <a:bodyPr/>
          <a:lstStyle/>
          <a:p>
            <a:pPr>
              <a:buNone/>
            </a:pPr>
          </a:p>
        </p:txBody>
      </p:sp>
      <p:sp>
        <p:nvSpPr>
          <p:cNvPr id="22" name="BarValue"/>
          <p:cNvSpPr txBox="1"/>
          <p:nvPr/>
        </p:nvSpPr>
        <p:spPr>
          <a:xfrm>
            <a:off x="10207447" y="3602736"/>
            <a:ext cx="1463040" cy="182880"/>
          </a:xfrm>
          <a:prstGeom prst="rect">
            <a:avLst/>
          </a:prstGeom>
          <a:noFill/>
        </p:spPr>
        <p:txBody>
          <a:bodyPr wrap="square" lIns="36576" tIns="0" rIns="36576" bIns="0" anchor="ctr">
            <a:normAutofit/>
          </a:bodyPr>
          <a:lstStyle/>
          <a:p>
            <a:pPr algn="l">
              <a:buNone/>
            </a:pPr>
            <a:r>
              <a:rPr lang="en-US" sz="1000" dirty="0" b="1">
                <a:solidFill>
                  <a:srgbClr val="172320"/>
                </a:solidFill>
                <a:latin typeface="Calibri"/>
              </a:rPr>
              <a:t>not reached</a:t>
            </a:r>
          </a:p>
        </p:txBody>
      </p:sp>
      <p:sp>
        <p:nvSpPr>
          <p:cNvPr id="23" name="BarLabel"/>
          <p:cNvSpPr txBox="1"/>
          <p:nvPr/>
        </p:nvSpPr>
        <p:spPr>
          <a:xfrm>
            <a:off x="731520" y="3845052"/>
            <a:ext cx="3108960" cy="457200"/>
          </a:xfrm>
          <a:prstGeom prst="rect">
            <a:avLst/>
          </a:prstGeom>
          <a:noFill/>
        </p:spPr>
        <p:txBody>
          <a:bodyPr wrap="square" lIns="109728" tIns="45720" rIns="109728" bIns="45720" anchor="ctr">
            <a:normAutofit/>
          </a:bodyPr>
          <a:lstStyle/>
          <a:p>
            <a:pPr algn="l">
              <a:lnSpc>
                <a:spcPct val="95000"/>
              </a:lnSpc>
              <a:buNone/>
            </a:pPr>
            <a:r>
              <a:rPr lang="en-US" sz="1150" dirty="0">
                <a:solidFill>
                  <a:srgbClr val="172320"/>
                </a:solidFill>
                <a:latin typeface="Calibri"/>
              </a:rPr>
              <a:t>Reduced-sugar mango fruit spread</a:t>
            </a:r>
          </a:p>
        </p:txBody>
      </p:sp>
      <p:sp>
        <p:nvSpPr>
          <p:cNvPr id="24" name="Track"/>
          <p:cNvSpPr/>
          <p:nvPr/>
        </p:nvSpPr>
        <p:spPr>
          <a:xfrm>
            <a:off x="3931920" y="3941064"/>
            <a:ext cx="6202375" cy="109728"/>
          </a:xfrm>
          <a:prstGeom prst="rect">
            <a:avLst/>
          </a:prstGeom>
          <a:solidFill>
            <a:srgbClr val="E7F3EC"/>
          </a:solidFill>
        </p:spPr>
        <p:txBody>
          <a:bodyPr/>
          <a:lstStyle/>
          <a:p>
            <a:pPr>
              <a:buNone/>
            </a:pPr>
          </a:p>
        </p:txBody>
      </p:sp>
      <p:sp>
        <p:nvSpPr>
          <p:cNvPr id="25" name="Bar"/>
          <p:cNvSpPr/>
          <p:nvPr/>
        </p:nvSpPr>
        <p:spPr>
          <a:xfrm>
            <a:off x="3931920" y="3941064"/>
            <a:ext cx="3101188" cy="109728"/>
          </a:xfrm>
          <a:prstGeom prst="rect">
            <a:avLst/>
          </a:prstGeom>
          <a:solidFill>
            <a:srgbClr val="1F7A4D"/>
          </a:solidFill>
        </p:spPr>
        <p:txBody>
          <a:bodyPr/>
          <a:lstStyle/>
          <a:p>
            <a:pPr>
              <a:buNone/>
            </a:pPr>
          </a:p>
        </p:txBody>
      </p:sp>
      <p:sp>
        <p:nvSpPr>
          <p:cNvPr id="26" name="BarValue"/>
          <p:cNvSpPr txBox="1"/>
          <p:nvPr/>
        </p:nvSpPr>
        <p:spPr>
          <a:xfrm>
            <a:off x="10207447" y="3904488"/>
            <a:ext cx="1463040" cy="182880"/>
          </a:xfrm>
          <a:prstGeom prst="rect">
            <a:avLst/>
          </a:prstGeom>
          <a:noFill/>
        </p:spPr>
        <p:txBody>
          <a:bodyPr wrap="square" lIns="36576" tIns="0" rIns="36576" bIns="0" anchor="ctr">
            <a:normAutofit/>
          </a:bodyPr>
          <a:lstStyle/>
          <a:p>
            <a:pPr algn="l">
              <a:buNone/>
            </a:pPr>
            <a:r>
              <a:rPr lang="en-US" sz="1000" dirty="0" b="1">
                <a:solidFill>
                  <a:srgbClr val="172320"/>
                </a:solidFill>
                <a:latin typeface="Calibri"/>
              </a:rPr>
              <a:t>3 trials</a:t>
            </a:r>
          </a:p>
        </p:txBody>
      </p:sp>
      <p:sp>
        <p:nvSpPr>
          <p:cNvPr id="27" name="Track"/>
          <p:cNvSpPr/>
          <p:nvPr/>
        </p:nvSpPr>
        <p:spPr>
          <a:xfrm>
            <a:off x="3931920" y="4096512"/>
            <a:ext cx="6202375" cy="109728"/>
          </a:xfrm>
          <a:prstGeom prst="rect">
            <a:avLst/>
          </a:prstGeom>
          <a:solidFill>
            <a:srgbClr val="E7F3EC"/>
          </a:solidFill>
        </p:spPr>
        <p:txBody>
          <a:bodyPr/>
          <a:lstStyle/>
          <a:p>
            <a:pPr>
              <a:buNone/>
            </a:pPr>
          </a:p>
        </p:txBody>
      </p:sp>
      <p:sp>
        <p:nvSpPr>
          <p:cNvPr id="28" name="BarValue"/>
          <p:cNvSpPr txBox="1"/>
          <p:nvPr/>
        </p:nvSpPr>
        <p:spPr>
          <a:xfrm>
            <a:off x="10207447" y="4059936"/>
            <a:ext cx="1463040" cy="182880"/>
          </a:xfrm>
          <a:prstGeom prst="rect">
            <a:avLst/>
          </a:prstGeom>
          <a:noFill/>
        </p:spPr>
        <p:txBody>
          <a:bodyPr wrap="square" lIns="36576" tIns="0" rIns="36576" bIns="0" anchor="ctr">
            <a:normAutofit/>
          </a:bodyPr>
          <a:lstStyle/>
          <a:p>
            <a:pPr algn="l">
              <a:buNone/>
            </a:pPr>
            <a:r>
              <a:rPr lang="en-US" sz="1000" dirty="0" b="1">
                <a:solidFill>
                  <a:srgbClr val="172320"/>
                </a:solidFill>
                <a:latin typeface="Calibri"/>
              </a:rPr>
              <a:t>not reached</a:t>
            </a:r>
          </a:p>
        </p:txBody>
      </p:sp>
      <p:sp>
        <p:nvSpPr>
          <p:cNvPr id="29" name="BarLabel"/>
          <p:cNvSpPr txBox="1"/>
          <p:nvPr/>
        </p:nvSpPr>
        <p:spPr>
          <a:xfrm>
            <a:off x="731520" y="4302252"/>
            <a:ext cx="3108960" cy="457200"/>
          </a:xfrm>
          <a:prstGeom prst="rect">
            <a:avLst/>
          </a:prstGeom>
          <a:noFill/>
        </p:spPr>
        <p:txBody>
          <a:bodyPr wrap="square" lIns="109728" tIns="45720" rIns="109728" bIns="45720" anchor="ctr">
            <a:normAutofit/>
          </a:bodyPr>
          <a:lstStyle/>
          <a:p>
            <a:pPr algn="l">
              <a:lnSpc>
                <a:spcPct val="95000"/>
              </a:lnSpc>
              <a:buNone/>
            </a:pPr>
            <a:r>
              <a:rPr lang="en-US" sz="1150" dirty="0">
                <a:solidFill>
                  <a:srgbClr val="172320"/>
                </a:solidFill>
                <a:latin typeface="Calibri"/>
              </a:rPr>
              <a:t>High-protein whey beverage (ready-to-drink)</a:t>
            </a:r>
          </a:p>
        </p:txBody>
      </p:sp>
      <p:sp>
        <p:nvSpPr>
          <p:cNvPr id="30" name="Track"/>
          <p:cNvSpPr/>
          <p:nvPr/>
        </p:nvSpPr>
        <p:spPr>
          <a:xfrm>
            <a:off x="3931920" y="4398264"/>
            <a:ext cx="6202375" cy="109728"/>
          </a:xfrm>
          <a:prstGeom prst="rect">
            <a:avLst/>
          </a:prstGeom>
          <a:solidFill>
            <a:srgbClr val="E7F3EC"/>
          </a:solidFill>
        </p:spPr>
        <p:txBody>
          <a:bodyPr/>
          <a:lstStyle/>
          <a:p>
            <a:pPr>
              <a:buNone/>
            </a:pPr>
          </a:p>
        </p:txBody>
      </p:sp>
      <p:sp>
        <p:nvSpPr>
          <p:cNvPr id="31" name="Bar"/>
          <p:cNvSpPr/>
          <p:nvPr/>
        </p:nvSpPr>
        <p:spPr>
          <a:xfrm>
            <a:off x="3931920" y="4398264"/>
            <a:ext cx="2067458" cy="109728"/>
          </a:xfrm>
          <a:prstGeom prst="rect">
            <a:avLst/>
          </a:prstGeom>
          <a:solidFill>
            <a:srgbClr val="1F7A4D"/>
          </a:solidFill>
        </p:spPr>
        <p:txBody>
          <a:bodyPr/>
          <a:lstStyle/>
          <a:p>
            <a:pPr>
              <a:buNone/>
            </a:pPr>
          </a:p>
        </p:txBody>
      </p:sp>
      <p:sp>
        <p:nvSpPr>
          <p:cNvPr id="32" name="BarValue"/>
          <p:cNvSpPr txBox="1"/>
          <p:nvPr/>
        </p:nvSpPr>
        <p:spPr>
          <a:xfrm>
            <a:off x="10207447" y="4361688"/>
            <a:ext cx="1463040" cy="182880"/>
          </a:xfrm>
          <a:prstGeom prst="rect">
            <a:avLst/>
          </a:prstGeom>
          <a:noFill/>
        </p:spPr>
        <p:txBody>
          <a:bodyPr wrap="square" lIns="36576" tIns="0" rIns="36576" bIns="0" anchor="ctr">
            <a:normAutofit/>
          </a:bodyPr>
          <a:lstStyle/>
          <a:p>
            <a:pPr algn="l">
              <a:buNone/>
            </a:pPr>
            <a:r>
              <a:rPr lang="en-US" sz="1000" dirty="0" b="1">
                <a:solidFill>
                  <a:srgbClr val="172320"/>
                </a:solidFill>
                <a:latin typeface="Calibri"/>
              </a:rPr>
              <a:t>2 trials</a:t>
            </a:r>
          </a:p>
        </p:txBody>
      </p:sp>
      <p:sp>
        <p:nvSpPr>
          <p:cNvPr id="33" name="Track"/>
          <p:cNvSpPr/>
          <p:nvPr/>
        </p:nvSpPr>
        <p:spPr>
          <a:xfrm>
            <a:off x="3931920" y="4553712"/>
            <a:ext cx="6202375" cy="109728"/>
          </a:xfrm>
          <a:prstGeom prst="rect">
            <a:avLst/>
          </a:prstGeom>
          <a:solidFill>
            <a:srgbClr val="E7F3EC"/>
          </a:solidFill>
        </p:spPr>
        <p:txBody>
          <a:bodyPr/>
          <a:lstStyle/>
          <a:p>
            <a:pPr>
              <a:buNone/>
            </a:pPr>
          </a:p>
        </p:txBody>
      </p:sp>
      <p:sp>
        <p:nvSpPr>
          <p:cNvPr id="34" name="BarValue"/>
          <p:cNvSpPr txBox="1"/>
          <p:nvPr/>
        </p:nvSpPr>
        <p:spPr>
          <a:xfrm>
            <a:off x="10207447" y="4517136"/>
            <a:ext cx="1463040" cy="182880"/>
          </a:xfrm>
          <a:prstGeom prst="rect">
            <a:avLst/>
          </a:prstGeom>
          <a:noFill/>
        </p:spPr>
        <p:txBody>
          <a:bodyPr wrap="square" lIns="36576" tIns="0" rIns="36576" bIns="0" anchor="ctr">
            <a:normAutofit/>
          </a:bodyPr>
          <a:lstStyle/>
          <a:p>
            <a:pPr algn="l">
              <a:buNone/>
            </a:pPr>
            <a:r>
              <a:rPr lang="en-US" sz="1000" dirty="0" b="1">
                <a:solidFill>
                  <a:srgbClr val="172320"/>
                </a:solidFill>
                <a:latin typeface="Calibri"/>
              </a:rPr>
              <a:t>not reached</a:t>
            </a:r>
          </a:p>
        </p:txBody>
      </p:sp>
      <p:sp>
        <p:nvSpPr>
          <p:cNvPr id="35" name="BarCaption"/>
          <p:cNvSpPr txBox="1"/>
          <p:nvPr/>
        </p:nvSpPr>
        <p:spPr>
          <a:xfrm>
            <a:off x="731520" y="4777740"/>
            <a:ext cx="10957255" cy="274320"/>
          </a:xfrm>
          <a:prstGeom prst="rect">
            <a:avLst/>
          </a:prstGeom>
          <a:noFill/>
        </p:spPr>
        <p:txBody>
          <a:bodyPr wrap="square" lIns="109728" tIns="45720" rIns="109728" bIns="45720" anchor="t">
            <a:normAutofit/>
          </a:bodyPr>
          <a:lstStyle/>
          <a:p>
            <a:pPr algn="l">
              <a:lnSpc>
                <a:spcPct val="95000"/>
              </a:lnSpc>
              <a:buNone/>
            </a:pPr>
            <a:r>
              <a:rPr lang="en-US" sz="1000" dirty="0">
                <a:solidFill>
                  <a:srgbClr val="5C6B62"/>
                </a:solidFill>
                <a:latin typeface="Calibri"/>
              </a:rPr>
              <a:t>Trials to reach the pass gate (0.85). Same cases, same trial budget, same pass gate; bars scale to the 6-trial budget. Solid is the agent, grey is one-factor-at-a-time.</a:t>
            </a:r>
          </a:p>
        </p:txBody>
      </p:sp>
      <p:sp>
        <p:nvSpPr>
          <p:cNvPr id="36" name="Callout"/>
          <p:cNvSpPr/>
          <p:nvPr/>
        </p:nvSpPr>
        <p:spPr>
          <a:xfrm>
            <a:off x="731520" y="5321808"/>
            <a:ext cx="10957255" cy="713232"/>
          </a:xfrm>
          <a:prstGeom prst="roundRect">
            <a:avLst/>
          </a:prstGeom>
          <a:solidFill>
            <a:srgbClr val="E7F3EC"/>
          </a:solidFill>
        </p:spPr>
        <p:txBody>
          <a:bodyPr/>
          <a:lstStyle/>
          <a:p>
            <a:pPr>
              <a:buNone/>
            </a:pPr>
          </a:p>
        </p:txBody>
      </p:sp>
      <p:sp>
        <p:nvSpPr>
          <p:cNvPr id="37" name="CalloutText"/>
          <p:cNvSpPr txBox="1"/>
          <p:nvPr/>
        </p:nvSpPr>
        <p:spPr>
          <a:xfrm>
            <a:off x="932688" y="5321808"/>
            <a:ext cx="10554919" cy="713232"/>
          </a:xfrm>
          <a:prstGeom prst="rect">
            <a:avLst/>
          </a:prstGeom>
          <a:noFill/>
        </p:spPr>
        <p:txBody>
          <a:bodyPr wrap="square" lIns="109728" tIns="45720" rIns="109728" bIns="45720" anchor="ctr">
            <a:normAutofit/>
          </a:bodyPr>
          <a:lstStyle/>
          <a:p>
            <a:pPr algn="l">
              <a:buNone/>
            </a:pPr>
            <a:r>
              <a:rPr lang="en-US" sz="1300" dirty="0" b="1">
                <a:solidFill>
                  <a:srgbClr val="172320"/>
                </a:solidFill>
                <a:latin typeface="Calibri"/>
              </a:rPr>
              <a:t>Products reaching target: agent 4 of 4, one-factor-at-a-time 0 of 4 - measured from the stored record, re-runnable with "python run.py --benchmark".</a:t>
            </a:r>
          </a:p>
        </p:txBody>
      </p:sp>
      <p:sp>
        <p:nvSpPr>
          <p:cNvPr id="38" name="Footer"/>
          <p:cNvSpPr txBox="1"/>
          <p:nvPr/>
        </p:nvSpPr>
        <p:spPr>
          <a:xfrm>
            <a:off x="731520" y="6236208"/>
            <a:ext cx="10957255" cy="310896"/>
          </a:xfrm>
          <a:prstGeom prst="rect">
            <a:avLst/>
          </a:prstGeom>
          <a:noFill/>
        </p:spPr>
        <p:txBody>
          <a:bodyPr wrap="square" lIns="109728" tIns="45720" rIns="109728" bIns="45720" anchor="t">
            <a:normAutofit/>
          </a:bodyPr>
          <a:lstStyle/>
          <a:p>
            <a:pPr algn="l">
              <a:buNone/>
            </a:pPr>
            <a:r>
              <a:rPr lang="en-US" sz="950" dirty="0">
                <a:solidFill>
                  <a:srgbClr val="5C6B62"/>
                </a:solidFill>
                <a:latin typeface="Calibri"/>
              </a:rPr>
              <a:t>Technostatic Wings  |  FormuSense  |  Problem Statement PS-1, Tiny Dot Foods          Slide 4 of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Bar"/>
          <p:cNvSpPr txBox="1"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F7A4D"/>
          </a:solidFill>
        </p:spPr>
        <p:txBody>
          <a:bodyPr wrap="square" lIns="109728" tIns="45720" rIns="109728" bIns="45720" anchor="t">
            <a:normAutofit/>
          </a:bodyPr>
          <a:lstStyle/>
          <a:p>
            <a:pPr>
              <a:buNone/>
            </a:pPr>
          </a:p>
        </p:txBody>
      </p:sp>
      <p:sp>
        <p:nvSpPr>
          <p:cNvPr id="3" name="SlideTitle"/>
          <p:cNvSpPr txBox="1"/>
          <p:nvPr/>
        </p:nvSpPr>
        <p:spPr>
          <a:xfrm>
            <a:off x="731520" y="384048"/>
            <a:ext cx="10957255" cy="868680"/>
          </a:xfrm>
          <a:prstGeom prst="rect">
            <a:avLst/>
          </a:prstGeom>
          <a:noFill/>
        </p:spPr>
        <p:txBody>
          <a:bodyPr wrap="square" lIns="109728" tIns="45720" rIns="109728" bIns="45720" anchor="t">
            <a:normAutofit/>
          </a:bodyPr>
          <a:lstStyle/>
          <a:p>
            <a:pPr algn="l">
              <a:buNone/>
            </a:pPr>
            <a:r>
              <a:rPr lang="en-US" sz="2400" dirty="0" b="1">
                <a:solidFill>
                  <a:srgbClr val="172320"/>
                </a:solidFill>
                <a:latin typeface="Calibri Light"/>
              </a:rPr>
              <a:t>Production Foundations: Real Database, Offline Learning</a:t>
            </a:r>
          </a:p>
        </p:txBody>
      </p:sp>
      <p:sp>
        <p:nvSpPr>
          <p:cNvPr id="4" name="Rule"/>
          <p:cNvSpPr txBox="1"/>
          <p:nvPr/>
        </p:nvSpPr>
        <p:spPr>
          <a:xfrm>
            <a:off x="731520" y="1389888"/>
            <a:ext cx="10957255" cy="27432"/>
          </a:xfrm>
          <a:prstGeom prst="rect">
            <a:avLst/>
          </a:prstGeom>
          <a:solidFill>
            <a:srgbClr val="D6DFD9"/>
          </a:solidFill>
        </p:spPr>
        <p:txBody>
          <a:bodyPr wrap="square" lIns="109728" tIns="45720" rIns="109728" bIns="45720" anchor="t">
            <a:normAutofit/>
          </a:bodyPr>
          <a:lstStyle/>
          <a:p>
            <a:pPr>
              <a:buNone/>
            </a:pPr>
          </a:p>
        </p:txBody>
      </p:sp>
      <p:sp>
        <p:nvSpPr>
          <p:cNvPr id="5" name="Card"/>
          <p:cNvSpPr/>
          <p:nvPr/>
        </p:nvSpPr>
        <p:spPr>
          <a:xfrm>
            <a:off x="731520" y="1627632"/>
            <a:ext cx="2615870" cy="1051560"/>
          </a:xfrm>
          <a:prstGeom prst="roundRect">
            <a:avLst/>
          </a:prstGeom>
          <a:solidFill>
            <a:srgbClr val="E7F3EC"/>
          </a:solidFill>
          <a:ln w="9525">
            <a:solidFill>
              <a:srgbClr val="D6DFD9"/>
            </a:solidFill>
          </a:ln>
        </p:spPr>
        <p:txBody>
          <a:bodyPr/>
          <a:lstStyle/>
          <a:p>
            <a:pPr>
              <a:buNone/>
            </a:pPr>
          </a:p>
        </p:txBody>
      </p:sp>
      <p:sp>
        <p:nvSpPr>
          <p:cNvPr id="6" name="CardText"/>
          <p:cNvSpPr txBox="1"/>
          <p:nvPr/>
        </p:nvSpPr>
        <p:spPr>
          <a:xfrm>
            <a:off x="859536" y="1719072"/>
            <a:ext cx="2359838" cy="868680"/>
          </a:xfrm>
          <a:prstGeom prst="rect">
            <a:avLst/>
          </a:prstGeom>
          <a:noFill/>
        </p:spPr>
        <p:txBody>
          <a:bodyPr wrap="square" lIns="109728" tIns="45720" rIns="109728" bIns="45720" anchor="ctr">
            <a:norm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en-US" sz="2600" dirty="0" b="1">
                <a:solidFill>
                  <a:srgbClr val="1F7A4D"/>
                </a:solidFill>
                <a:latin typeface="Calibri Light"/>
              </a:rPr>
              <a:t>0.0363</a:t>
            </a:r>
          </a:p>
          <a:p>
            <a:pPr algn="l">
              <a:spcAft>
                <a:spcPts val="200"/>
              </a:spcAft>
              <a:buNone/>
            </a:pPr>
            <a:r>
              <a:rPr lang="en-US" sz="1250" dirty="0" b="1">
                <a:solidFill>
                  <a:srgbClr val="172320"/>
                </a:solidFill>
                <a:latin typeface="Calibri"/>
              </a:rPr>
              <a:t>RMSE, held-out test</a:t>
            </a:r>
          </a:p>
          <a:p>
            <a:pPr algn="l">
              <a:buNone/>
            </a:pPr>
            <a:r>
              <a:rPr lang="en-US" sz="1050" dirty="0">
                <a:solidFill>
                  <a:srgbClr val="5C6B62"/>
                </a:solidFill>
                <a:latin typeface="Calibri"/>
              </a:rPr>
              <a:t>naive baseline 0.1504</a:t>
            </a:r>
          </a:p>
        </p:txBody>
      </p:sp>
      <p:sp>
        <p:nvSpPr>
          <p:cNvPr id="7" name="Card"/>
          <p:cNvSpPr/>
          <p:nvPr/>
        </p:nvSpPr>
        <p:spPr>
          <a:xfrm>
            <a:off x="3511982" y="1627632"/>
            <a:ext cx="2615870" cy="1051560"/>
          </a:xfrm>
          <a:prstGeom prst="roundRect">
            <a:avLst/>
          </a:prstGeom>
          <a:solidFill>
            <a:srgbClr val="E7F3EC"/>
          </a:solidFill>
          <a:ln w="9525">
            <a:solidFill>
              <a:srgbClr val="D6DFD9"/>
            </a:solidFill>
          </a:ln>
        </p:spPr>
        <p:txBody>
          <a:bodyPr/>
          <a:lstStyle/>
          <a:p>
            <a:pPr>
              <a:buNone/>
            </a:pPr>
          </a:p>
        </p:txBody>
      </p:sp>
      <p:sp>
        <p:nvSpPr>
          <p:cNvPr id="8" name="CardText"/>
          <p:cNvSpPr txBox="1"/>
          <p:nvPr/>
        </p:nvSpPr>
        <p:spPr>
          <a:xfrm>
            <a:off x="3639998" y="1719072"/>
            <a:ext cx="2359838" cy="868680"/>
          </a:xfrm>
          <a:prstGeom prst="rect">
            <a:avLst/>
          </a:prstGeom>
          <a:noFill/>
        </p:spPr>
        <p:txBody>
          <a:bodyPr wrap="square" lIns="109728" tIns="45720" rIns="109728" bIns="45720" anchor="ctr">
            <a:norm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en-US" sz="2600" dirty="0" b="1">
                <a:solidFill>
                  <a:srgbClr val="1F7A4D"/>
                </a:solidFill>
                <a:latin typeface="Calibri Light"/>
              </a:rPr>
              <a:t>1.00</a:t>
            </a:r>
          </a:p>
          <a:p>
            <a:pPr algn="l">
              <a:spcAft>
                <a:spcPts val="200"/>
              </a:spcAft>
              <a:buNone/>
            </a:pPr>
            <a:r>
              <a:rPr lang="en-US" sz="1250" dirty="0" b="1">
                <a:solidFill>
                  <a:srgbClr val="172320"/>
                </a:solidFill>
                <a:latin typeface="Calibri"/>
              </a:rPr>
              <a:t>ROC-AUC</a:t>
            </a:r>
          </a:p>
          <a:p>
            <a:pPr algn="l">
              <a:buNone/>
            </a:pPr>
            <a:r>
              <a:rPr lang="en-US" sz="1050" dirty="0">
                <a:solidFill>
                  <a:srgbClr val="5C6B62"/>
                </a:solidFill>
                <a:latin typeface="Calibri"/>
              </a:rPr>
              <a:t>baseline 0.50</a:t>
            </a:r>
          </a:p>
        </p:txBody>
      </p:sp>
      <p:sp>
        <p:nvSpPr>
          <p:cNvPr id="9" name="Card"/>
          <p:cNvSpPr/>
          <p:nvPr/>
        </p:nvSpPr>
        <p:spPr>
          <a:xfrm>
            <a:off x="6292444" y="1627632"/>
            <a:ext cx="2615870" cy="1051560"/>
          </a:xfrm>
          <a:prstGeom prst="roundRect">
            <a:avLst/>
          </a:prstGeom>
          <a:solidFill>
            <a:srgbClr val="E7F3EC"/>
          </a:solidFill>
          <a:ln w="9525">
            <a:solidFill>
              <a:srgbClr val="D6DFD9"/>
            </a:solidFill>
          </a:ln>
        </p:spPr>
        <p:txBody>
          <a:bodyPr/>
          <a:lstStyle/>
          <a:p>
            <a:pPr>
              <a:buNone/>
            </a:pPr>
          </a:p>
        </p:txBody>
      </p:sp>
      <p:sp>
        <p:nvSpPr>
          <p:cNvPr id="10" name="CardText"/>
          <p:cNvSpPr txBox="1"/>
          <p:nvPr/>
        </p:nvSpPr>
        <p:spPr>
          <a:xfrm>
            <a:off x="6420460" y="1719072"/>
            <a:ext cx="2359838" cy="868680"/>
          </a:xfrm>
          <a:prstGeom prst="rect">
            <a:avLst/>
          </a:prstGeom>
          <a:noFill/>
        </p:spPr>
        <p:txBody>
          <a:bodyPr wrap="square" lIns="109728" tIns="45720" rIns="109728" bIns="45720" anchor="ctr">
            <a:norm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en-US" sz="2600" dirty="0" b="1">
                <a:solidFill>
                  <a:srgbClr val="1F7A4D"/>
                </a:solidFill>
                <a:latin typeface="Calibri Light"/>
              </a:rPr>
              <a:t>0.094</a:t>
            </a:r>
          </a:p>
          <a:p>
            <a:pPr algn="l">
              <a:spcAft>
                <a:spcPts val="200"/>
              </a:spcAft>
              <a:buNone/>
            </a:pPr>
            <a:r>
              <a:rPr lang="en-US" sz="1250" dirty="0" b="1">
                <a:solidFill>
                  <a:srgbClr val="172320"/>
                </a:solidFill>
                <a:latin typeface="Calibri"/>
              </a:rPr>
              <a:t>Brier score</a:t>
            </a:r>
          </a:p>
          <a:p>
            <a:pPr algn="l">
              <a:buNone/>
            </a:pPr>
            <a:r>
              <a:rPr lang="en-US" sz="1050" dirty="0">
                <a:solidFill>
                  <a:srgbClr val="5C6B62"/>
                </a:solidFill>
                <a:latin typeface="Calibri"/>
              </a:rPr>
              <a:t>baseline 0.173</a:t>
            </a:r>
          </a:p>
        </p:txBody>
      </p:sp>
      <p:sp>
        <p:nvSpPr>
          <p:cNvPr id="11" name="Card"/>
          <p:cNvSpPr/>
          <p:nvPr/>
        </p:nvSpPr>
        <p:spPr>
          <a:xfrm>
            <a:off x="9072905" y="1627632"/>
            <a:ext cx="2615870" cy="1051560"/>
          </a:xfrm>
          <a:prstGeom prst="roundRect">
            <a:avLst/>
          </a:prstGeom>
          <a:solidFill>
            <a:srgbClr val="E7F3EC"/>
          </a:solidFill>
          <a:ln w="9525">
            <a:solidFill>
              <a:srgbClr val="D6DFD9"/>
            </a:solidFill>
          </a:ln>
        </p:spPr>
        <p:txBody>
          <a:bodyPr/>
          <a:lstStyle/>
          <a:p>
            <a:pPr>
              <a:buNone/>
            </a:pPr>
          </a:p>
        </p:txBody>
      </p:sp>
      <p:sp>
        <p:nvSpPr>
          <p:cNvPr id="12" name="CardText"/>
          <p:cNvSpPr txBox="1"/>
          <p:nvPr/>
        </p:nvSpPr>
        <p:spPr>
          <a:xfrm>
            <a:off x="9200921" y="1719072"/>
            <a:ext cx="2359838" cy="868680"/>
          </a:xfrm>
          <a:prstGeom prst="rect">
            <a:avLst/>
          </a:prstGeom>
          <a:noFill/>
        </p:spPr>
        <p:txBody>
          <a:bodyPr wrap="square" lIns="109728" tIns="45720" rIns="109728" bIns="45720" anchor="ctr">
            <a:norm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en-US" sz="2600" dirty="0" b="1">
                <a:solidFill>
                  <a:srgbClr val="1F7A4D"/>
                </a:solidFill>
                <a:latin typeface="Calibri Light"/>
              </a:rPr>
              <a:t>140</a:t>
            </a:r>
          </a:p>
          <a:p>
            <a:pPr algn="l">
              <a:spcAft>
                <a:spcPts val="200"/>
              </a:spcAft>
              <a:buNone/>
            </a:pPr>
            <a:r>
              <a:rPr lang="en-US" sz="1250" dirty="0" b="1">
                <a:solidFill>
                  <a:srgbClr val="172320"/>
                </a:solidFill>
                <a:latin typeface="Calibri"/>
              </a:rPr>
              <a:t>dataset rows</a:t>
            </a:r>
          </a:p>
          <a:p>
            <a:pPr algn="l">
              <a:buNone/>
            </a:pPr>
            <a:r>
              <a:rPr lang="en-US" sz="1050" dirty="0">
                <a:solidFill>
                  <a:srgbClr val="5C6B62"/>
                </a:solidFill>
                <a:latin typeface="Calibri"/>
              </a:rPr>
              <a:t>split 80 / 30 / 30</a:t>
            </a:r>
          </a:p>
        </p:txBody>
      </p:sp>
      <p:sp>
        <p:nvSpPr>
          <p:cNvPr id="13" name="Column"/>
          <p:cNvSpPr/>
          <p:nvPr/>
        </p:nvSpPr>
        <p:spPr>
          <a:xfrm>
            <a:off x="731520" y="3282696"/>
            <a:ext cx="3542690" cy="275234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DFD9"/>
            </a:solidFill>
          </a:ln>
        </p:spPr>
        <p:txBody>
          <a:bodyPr/>
          <a:lstStyle/>
          <a:p>
            <a:pPr>
              <a:buNone/>
            </a:pPr>
          </a:p>
        </p:txBody>
      </p:sp>
      <p:sp>
        <p:nvSpPr>
          <p:cNvPr id="14" name="ColumnText"/>
          <p:cNvSpPr txBox="1"/>
          <p:nvPr/>
        </p:nvSpPr>
        <p:spPr>
          <a:xfrm>
            <a:off x="877824" y="3392424"/>
            <a:ext cx="3250082" cy="2532888"/>
          </a:xfrm>
          <a:prstGeom prst="rect">
            <a:avLst/>
          </a:prstGeom>
          <a:noFill/>
        </p:spPr>
        <p:txBody>
          <a:bodyPr wrap="square" lIns="109728" tIns="45720" rIns="109728" bIns="45720" anchor="t">
            <a:normAutofit/>
          </a:bodyPr>
          <a:lstStyle/>
          <a:p>
            <a:pPr algn="l">
              <a:spcAft>
                <a:spcPts val="700"/>
              </a:spcAft>
              <a:buNone/>
            </a:pPr>
            <a:r>
              <a:rPr lang="en-US" sz="1400" dirty="0" b="1">
                <a:solidFill>
                  <a:srgbClr val="1F7A4D"/>
                </a:solidFill>
                <a:latin typeface="Calibri Light"/>
              </a:rPr>
              <a:t>Database</a:t>
            </a:r>
          </a:p>
          <a:p>
            <a:pPr algn="l">
              <a:lnSpc>
                <a:spcPct val="950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172320"/>
                </a:solidFill>
                <a:latin typeface="Calibri"/>
              </a:rPr>
              <a:t>SQLite is the zero-install default; PostgreSQL is reached by configuration.</a:t>
            </a:r>
          </a:p>
          <a:p>
            <a:pPr algn="l">
              <a:lnSpc>
                <a:spcPct val="950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172320"/>
                </a:solidFill>
                <a:latin typeface="Calibri"/>
              </a:rPr>
              <a:t>Forward-only numbered SQL migrations per dialect, tracked in a schema_migrations table.</a:t>
            </a:r>
          </a:p>
          <a:p>
            <a:pPr algn="l">
              <a:lnSpc>
                <a:spcPct val="950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172320"/>
                </a:solidFill>
                <a:latin typeface="Calibri"/>
              </a:rPr>
              <a:t>One record layer behind the dialect adapter, with the driver imported lazily.</a:t>
            </a:r>
          </a:p>
        </p:txBody>
      </p:sp>
      <p:sp>
        <p:nvSpPr>
          <p:cNvPr id="15" name="Column"/>
          <p:cNvSpPr/>
          <p:nvPr/>
        </p:nvSpPr>
        <p:spPr>
          <a:xfrm>
            <a:off x="4438802" y="3282696"/>
            <a:ext cx="3542690" cy="275234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DFD9"/>
            </a:solidFill>
          </a:ln>
        </p:spPr>
        <p:txBody>
          <a:bodyPr/>
          <a:lstStyle/>
          <a:p>
            <a:pPr>
              <a:buNone/>
            </a:pPr>
          </a:p>
        </p:txBody>
      </p:sp>
      <p:sp>
        <p:nvSpPr>
          <p:cNvPr id="16" name="ColumnText"/>
          <p:cNvSpPr txBox="1"/>
          <p:nvPr/>
        </p:nvSpPr>
        <p:spPr>
          <a:xfrm>
            <a:off x="4585106" y="3392424"/>
            <a:ext cx="3250082" cy="2532888"/>
          </a:xfrm>
          <a:prstGeom prst="rect">
            <a:avLst/>
          </a:prstGeom>
          <a:noFill/>
        </p:spPr>
        <p:txBody>
          <a:bodyPr wrap="square" lIns="109728" tIns="45720" rIns="109728" bIns="45720" anchor="t">
            <a:normAutofit/>
          </a:bodyPr>
          <a:lstStyle/>
          <a:p>
            <a:pPr algn="l">
              <a:spcAft>
                <a:spcPts val="700"/>
              </a:spcAft>
              <a:buNone/>
            </a:pPr>
            <a:r>
              <a:rPr lang="en-US" sz="1400" dirty="0" b="1">
                <a:solidFill>
                  <a:srgbClr val="1F7A4D"/>
                </a:solidFill>
                <a:latin typeface="Calibri Light"/>
              </a:rPr>
              <a:t>Offline learning</a:t>
            </a:r>
          </a:p>
          <a:p>
            <a:pPr algn="l">
              <a:lnSpc>
                <a:spcPct val="950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172320"/>
                </a:solidFill>
                <a:latin typeface="Calibri"/>
              </a:rPr>
              <a:t>A versioned dataset of 140 rows with a seeded, SHA-256 manifest.</a:t>
            </a:r>
          </a:p>
          <a:p>
            <a:pPr algn="l">
              <a:lnSpc>
                <a:spcPct val="950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172320"/>
                </a:solidFill>
                <a:latin typeface="Calibri"/>
              </a:rPr>
              <a:t>Ridge regression for the objective, calibrated logistic regression for pass/fail.</a:t>
            </a:r>
          </a:p>
          <a:p>
            <a:pPr algn="l">
              <a:lnSpc>
                <a:spcPct val="950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172320"/>
                </a:solidFill>
                <a:latin typeface="Calibri"/>
              </a:rPr>
              <a:t>Split by plant instance, so no plant leaks across folds (80 / 30 / 30).</a:t>
            </a:r>
          </a:p>
        </p:txBody>
      </p:sp>
      <p:sp>
        <p:nvSpPr>
          <p:cNvPr id="17" name="Column"/>
          <p:cNvSpPr/>
          <p:nvPr/>
        </p:nvSpPr>
        <p:spPr>
          <a:xfrm>
            <a:off x="8146085" y="3282696"/>
            <a:ext cx="3542690" cy="275234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DFD9"/>
            </a:solidFill>
          </a:ln>
        </p:spPr>
        <p:txBody>
          <a:bodyPr/>
          <a:lstStyle/>
          <a:p>
            <a:pPr>
              <a:buNone/>
            </a:pPr>
          </a:p>
        </p:txBody>
      </p:sp>
      <p:sp>
        <p:nvSpPr>
          <p:cNvPr id="18" name="ColumnText"/>
          <p:cNvSpPr txBox="1"/>
          <p:nvPr/>
        </p:nvSpPr>
        <p:spPr>
          <a:xfrm>
            <a:off x="8292389" y="3392424"/>
            <a:ext cx="3250082" cy="2532888"/>
          </a:xfrm>
          <a:prstGeom prst="rect">
            <a:avLst/>
          </a:prstGeom>
          <a:noFill/>
        </p:spPr>
        <p:txBody>
          <a:bodyPr wrap="square" lIns="109728" tIns="45720" rIns="109728" bIns="45720" anchor="t">
            <a:normAutofit/>
          </a:bodyPr>
          <a:lstStyle/>
          <a:p>
            <a:pPr algn="l">
              <a:spcAft>
                <a:spcPts val="700"/>
              </a:spcAft>
              <a:buNone/>
            </a:pPr>
            <a:r>
              <a:rPr lang="en-US" sz="1400" dirty="0" b="1">
                <a:solidFill>
                  <a:srgbClr val="1F7A4D"/>
                </a:solidFill>
                <a:latin typeface="Calibri Light"/>
              </a:rPr>
              <a:t>Operation</a:t>
            </a:r>
          </a:p>
          <a:p>
            <a:pPr algn="l">
              <a:lnSpc>
                <a:spcPct val="950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172320"/>
                </a:solidFill>
                <a:latin typeface="Calibri"/>
              </a:rPr>
              <a:t>Docker: "docker compose up --build" runs against postgres:16.</a:t>
            </a:r>
          </a:p>
          <a:p>
            <a:pPr algn="l">
              <a:lnSpc>
                <a:spcPct val="950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172320"/>
                </a:solidFill>
                <a:latin typeface="Calibri"/>
              </a:rPr>
              <a:t>Schema migrations known to the runner: 1.</a:t>
            </a:r>
          </a:p>
          <a:p>
            <a:pPr algn="l">
              <a:lnSpc>
                <a:spcPct val="950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172320"/>
                </a:solidFill>
                <a:latin typeface="Calibri"/>
              </a:rPr>
              <a:t>Pillow and Pygments stay optional extras; the standard library is the requirement.</a:t>
            </a:r>
          </a:p>
        </p:txBody>
      </p:sp>
      <p:sp>
        <p:nvSpPr>
          <p:cNvPr id="19" name="Footer"/>
          <p:cNvSpPr txBox="1"/>
          <p:nvPr/>
        </p:nvSpPr>
        <p:spPr>
          <a:xfrm>
            <a:off x="731520" y="6236208"/>
            <a:ext cx="10957255" cy="310896"/>
          </a:xfrm>
          <a:prstGeom prst="rect">
            <a:avLst/>
          </a:prstGeom>
          <a:noFill/>
        </p:spPr>
        <p:txBody>
          <a:bodyPr wrap="square" lIns="109728" tIns="45720" rIns="109728" bIns="45720" anchor="t">
            <a:normAutofit/>
          </a:bodyPr>
          <a:lstStyle/>
          <a:p>
            <a:pPr algn="l">
              <a:buNone/>
            </a:pPr>
            <a:r>
              <a:rPr lang="en-US" sz="950" dirty="0">
                <a:solidFill>
                  <a:srgbClr val="5C6B62"/>
                </a:solidFill>
                <a:latin typeface="Calibri"/>
              </a:rPr>
              <a:t>Technostatic Wings  |  FormuSense  |  Problem Statement PS-1, Tiny Dot Foods          Slide 5 of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Bar"/>
          <p:cNvSpPr txBox="1"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F7A4D"/>
          </a:solidFill>
        </p:spPr>
        <p:txBody>
          <a:bodyPr wrap="square" lIns="109728" tIns="45720" rIns="109728" bIns="45720" anchor="t">
            <a:normAutofit/>
          </a:bodyPr>
          <a:lstStyle/>
          <a:p>
            <a:pPr>
              <a:buNone/>
            </a:pPr>
          </a:p>
        </p:txBody>
      </p:sp>
      <p:sp>
        <p:nvSpPr>
          <p:cNvPr id="3" name="SlideTitle"/>
          <p:cNvSpPr txBox="1"/>
          <p:nvPr/>
        </p:nvSpPr>
        <p:spPr>
          <a:xfrm>
            <a:off x="731520" y="384048"/>
            <a:ext cx="10957255" cy="868680"/>
          </a:xfrm>
          <a:prstGeom prst="rect">
            <a:avLst/>
          </a:prstGeom>
          <a:noFill/>
        </p:spPr>
        <p:txBody>
          <a:bodyPr wrap="square" lIns="109728" tIns="45720" rIns="109728" bIns="45720" anchor="t">
            <a:normAutofit/>
          </a:bodyPr>
          <a:lstStyle/>
          <a:p>
            <a:pPr algn="l">
              <a:buNone/>
            </a:pPr>
            <a:r>
              <a:rPr lang="en-US" sz="2400" dirty="0" b="1">
                <a:solidFill>
                  <a:srgbClr val="172320"/>
                </a:solidFill>
                <a:latin typeface="Calibri Light"/>
              </a:rPr>
              <a:t>A New Product, and Consumption Guidance for Every Population</a:t>
            </a:r>
          </a:p>
        </p:txBody>
      </p:sp>
      <p:sp>
        <p:nvSpPr>
          <p:cNvPr id="4" name="Rule"/>
          <p:cNvSpPr txBox="1"/>
          <p:nvPr/>
        </p:nvSpPr>
        <p:spPr>
          <a:xfrm>
            <a:off x="731520" y="1389888"/>
            <a:ext cx="10957255" cy="27432"/>
          </a:xfrm>
          <a:prstGeom prst="rect">
            <a:avLst/>
          </a:prstGeom>
          <a:solidFill>
            <a:srgbClr val="D6DFD9"/>
          </a:solidFill>
        </p:spPr>
        <p:txBody>
          <a:bodyPr wrap="square" lIns="109728" tIns="45720" rIns="109728" bIns="45720" anchor="t">
            <a:normAutofit/>
          </a:bodyPr>
          <a:lstStyle/>
          <a:p>
            <a:pPr>
              <a:buNone/>
            </a:pPr>
          </a:p>
        </p:txBody>
      </p:sp>
      <p:sp>
        <p:nvSpPr>
          <p:cNvPr id="5" name="Card"/>
          <p:cNvSpPr/>
          <p:nvPr/>
        </p:nvSpPr>
        <p:spPr>
          <a:xfrm>
            <a:off x="731520" y="1627632"/>
            <a:ext cx="2615870" cy="1051560"/>
          </a:xfrm>
          <a:prstGeom prst="roundRect">
            <a:avLst/>
          </a:prstGeom>
          <a:solidFill>
            <a:srgbClr val="E7F3EC"/>
          </a:solidFill>
          <a:ln w="9525">
            <a:solidFill>
              <a:srgbClr val="D6DFD9"/>
            </a:solidFill>
          </a:ln>
        </p:spPr>
        <p:txBody>
          <a:bodyPr/>
          <a:lstStyle/>
          <a:p>
            <a:pPr>
              <a:buNone/>
            </a:pPr>
          </a:p>
        </p:txBody>
      </p:sp>
      <p:sp>
        <p:nvSpPr>
          <p:cNvPr id="6" name="CardText"/>
          <p:cNvSpPr txBox="1"/>
          <p:nvPr/>
        </p:nvSpPr>
        <p:spPr>
          <a:xfrm>
            <a:off x="859536" y="1719072"/>
            <a:ext cx="2359838" cy="868680"/>
          </a:xfrm>
          <a:prstGeom prst="rect">
            <a:avLst/>
          </a:prstGeom>
          <a:noFill/>
        </p:spPr>
        <p:txBody>
          <a:bodyPr wrap="square" lIns="109728" tIns="45720" rIns="109728" bIns="45720" anchor="ctr">
            <a:norm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en-US" sz="2600" dirty="0" b="1">
                <a:solidFill>
                  <a:srgbClr val="1F7A4D"/>
                </a:solidFill>
                <a:latin typeface="Calibri Light"/>
              </a:rPr>
              <a:t>20 g</a:t>
            </a:r>
          </a:p>
          <a:p>
            <a:pPr algn="l">
              <a:spcAft>
                <a:spcPts val="200"/>
              </a:spcAft>
              <a:buNone/>
            </a:pPr>
            <a:r>
              <a:rPr lang="en-US" sz="1250" dirty="0" b="1">
                <a:solidFill>
                  <a:srgbClr val="172320"/>
                </a:solidFill>
                <a:latin typeface="Calibri"/>
              </a:rPr>
              <a:t>protein per bottle</a:t>
            </a:r>
          </a:p>
          <a:p>
            <a:pPr algn="l">
              <a:buNone/>
            </a:pPr>
            <a:r>
              <a:rPr lang="en-US" sz="1050" dirty="0">
                <a:solidFill>
                  <a:srgbClr val="5C6B62"/>
                </a:solidFill>
                <a:latin typeface="Calibri"/>
              </a:rPr>
              <a:t>200 ml bottle, ready to drink</a:t>
            </a:r>
          </a:p>
        </p:txBody>
      </p:sp>
      <p:sp>
        <p:nvSpPr>
          <p:cNvPr id="7" name="Card"/>
          <p:cNvSpPr/>
          <p:nvPr/>
        </p:nvSpPr>
        <p:spPr>
          <a:xfrm>
            <a:off x="3511982" y="1627632"/>
            <a:ext cx="2615870" cy="1051560"/>
          </a:xfrm>
          <a:prstGeom prst="roundRect">
            <a:avLst/>
          </a:prstGeom>
          <a:solidFill>
            <a:srgbClr val="E7F3EC"/>
          </a:solidFill>
          <a:ln w="9525">
            <a:solidFill>
              <a:srgbClr val="D6DFD9"/>
            </a:solidFill>
          </a:ln>
        </p:spPr>
        <p:txBody>
          <a:bodyPr/>
          <a:lstStyle/>
          <a:p>
            <a:pPr>
              <a:buNone/>
            </a:pPr>
          </a:p>
        </p:txBody>
      </p:sp>
      <p:sp>
        <p:nvSpPr>
          <p:cNvPr id="8" name="CardText"/>
          <p:cNvSpPr txBox="1"/>
          <p:nvPr/>
        </p:nvSpPr>
        <p:spPr>
          <a:xfrm>
            <a:off x="3639998" y="1719072"/>
            <a:ext cx="2359838" cy="868680"/>
          </a:xfrm>
          <a:prstGeom prst="rect">
            <a:avLst/>
          </a:prstGeom>
          <a:noFill/>
        </p:spPr>
        <p:txBody>
          <a:bodyPr wrap="square" lIns="109728" tIns="45720" rIns="109728" bIns="45720" anchor="ctr">
            <a:norm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en-US" sz="2600" dirty="0" b="1">
                <a:solidFill>
                  <a:srgbClr val="1F7A4D"/>
                </a:solidFill>
                <a:latin typeface="Calibri Light"/>
              </a:rPr>
              <a:t>6 g</a:t>
            </a:r>
          </a:p>
          <a:p>
            <a:pPr algn="l">
              <a:spcAft>
                <a:spcPts val="200"/>
              </a:spcAft>
              <a:buNone/>
            </a:pPr>
            <a:r>
              <a:rPr lang="en-US" sz="1250" dirty="0" b="1">
                <a:solidFill>
                  <a:srgbClr val="172320"/>
                </a:solidFill>
                <a:latin typeface="Calibri"/>
              </a:rPr>
              <a:t>sugars per 100 ml, ceiling</a:t>
            </a:r>
          </a:p>
          <a:p>
            <a:pPr algn="l">
              <a:buNone/>
            </a:pPr>
            <a:r>
              <a:rPr lang="en-US" sz="1050" dirty="0">
                <a:solidFill>
                  <a:srgbClr val="5C6B62"/>
                </a:solidFill>
                <a:latin typeface="Calibri"/>
              </a:rPr>
              <a:t>fat 2 g per 100 ml at most</a:t>
            </a:r>
          </a:p>
        </p:txBody>
      </p:sp>
      <p:sp>
        <p:nvSpPr>
          <p:cNvPr id="9" name="Card"/>
          <p:cNvSpPr/>
          <p:nvPr/>
        </p:nvSpPr>
        <p:spPr>
          <a:xfrm>
            <a:off x="6292444" y="1627632"/>
            <a:ext cx="2615870" cy="1051560"/>
          </a:xfrm>
          <a:prstGeom prst="roundRect">
            <a:avLst/>
          </a:prstGeom>
          <a:solidFill>
            <a:srgbClr val="E7F3EC"/>
          </a:solidFill>
          <a:ln w="9525">
            <a:solidFill>
              <a:srgbClr val="D6DFD9"/>
            </a:solidFill>
          </a:ln>
        </p:spPr>
        <p:txBody>
          <a:bodyPr/>
          <a:lstStyle/>
          <a:p>
            <a:pPr>
              <a:buNone/>
            </a:pPr>
          </a:p>
        </p:txBody>
      </p:sp>
      <p:sp>
        <p:nvSpPr>
          <p:cNvPr id="10" name="CardText"/>
          <p:cNvSpPr txBox="1"/>
          <p:nvPr/>
        </p:nvSpPr>
        <p:spPr>
          <a:xfrm>
            <a:off x="6420460" y="1719072"/>
            <a:ext cx="2359838" cy="868680"/>
          </a:xfrm>
          <a:prstGeom prst="rect">
            <a:avLst/>
          </a:prstGeom>
          <a:noFill/>
        </p:spPr>
        <p:txBody>
          <a:bodyPr wrap="square" lIns="109728" tIns="45720" rIns="109728" bIns="45720" anchor="ctr">
            <a:norm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en-US" sz="2600" dirty="0" b="1">
                <a:solidFill>
                  <a:srgbClr val="1F7A4D"/>
                </a:solidFill>
                <a:latin typeface="Calibri Light"/>
              </a:rPr>
              <a:t>180 days</a:t>
            </a:r>
          </a:p>
          <a:p>
            <a:pPr algn="l">
              <a:spcAft>
                <a:spcPts val="200"/>
              </a:spcAft>
              <a:buNone/>
            </a:pPr>
            <a:r>
              <a:rPr lang="en-US" sz="1250" dirty="0" b="1">
                <a:solidFill>
                  <a:srgbClr val="172320"/>
                </a:solidFill>
                <a:latin typeface="Calibri"/>
              </a:rPr>
              <a:t>ambient shelf life</a:t>
            </a:r>
          </a:p>
          <a:p>
            <a:pPr algn="l">
              <a:buNone/>
            </a:pPr>
            <a:r>
              <a:rPr lang="en-US" sz="1050" dirty="0">
                <a:solidFill>
                  <a:srgbClr val="5C6B62"/>
                </a:solidFill>
                <a:latin typeface="Calibri"/>
              </a:rPr>
              <a:t>UHT and aseptic fill</a:t>
            </a:r>
          </a:p>
        </p:txBody>
      </p:sp>
      <p:sp>
        <p:nvSpPr>
          <p:cNvPr id="11" name="Card"/>
          <p:cNvSpPr/>
          <p:nvPr/>
        </p:nvSpPr>
        <p:spPr>
          <a:xfrm>
            <a:off x="9072905" y="1627632"/>
            <a:ext cx="2615870" cy="1051560"/>
          </a:xfrm>
          <a:prstGeom prst="roundRect">
            <a:avLst/>
          </a:prstGeom>
          <a:solidFill>
            <a:srgbClr val="E7F3EC"/>
          </a:solidFill>
          <a:ln w="9525">
            <a:solidFill>
              <a:srgbClr val="D6DFD9"/>
            </a:solidFill>
          </a:ln>
        </p:spPr>
        <p:txBody>
          <a:bodyPr/>
          <a:lstStyle/>
          <a:p>
            <a:pPr>
              <a:buNone/>
            </a:pPr>
          </a:p>
        </p:txBody>
      </p:sp>
      <p:sp>
        <p:nvSpPr>
          <p:cNvPr id="12" name="CardText"/>
          <p:cNvSpPr txBox="1"/>
          <p:nvPr/>
        </p:nvSpPr>
        <p:spPr>
          <a:xfrm>
            <a:off x="9200921" y="1719072"/>
            <a:ext cx="2359838" cy="868680"/>
          </a:xfrm>
          <a:prstGeom prst="rect">
            <a:avLst/>
          </a:prstGeom>
          <a:noFill/>
        </p:spPr>
        <p:txBody>
          <a:bodyPr wrap="square" lIns="109728" tIns="45720" rIns="109728" bIns="45720" anchor="ctr">
            <a:norm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en-US" sz="2600" dirty="0" b="1">
                <a:solidFill>
                  <a:srgbClr val="1F7A4D"/>
                </a:solidFill>
                <a:latin typeface="Calibri Light"/>
              </a:rPr>
              <a:t>15</a:t>
            </a:r>
          </a:p>
          <a:p>
            <a:pPr algn="l">
              <a:spcAft>
                <a:spcPts val="200"/>
              </a:spcAft>
              <a:buNone/>
            </a:pPr>
            <a:r>
              <a:rPr lang="en-US" sz="1250" dirty="0" b="1">
                <a:solidFill>
                  <a:srgbClr val="172320"/>
                </a:solidFill>
                <a:latin typeface="Calibri"/>
              </a:rPr>
              <a:t>population groups</a:t>
            </a:r>
          </a:p>
          <a:p>
            <a:pPr algn="l">
              <a:buNone/>
            </a:pPr>
            <a:r>
              <a:rPr lang="en-US" sz="1050" dirty="0">
                <a:solidFill>
                  <a:srgbClr val="5C6B62"/>
                </a:solidFill>
                <a:latin typeface="Calibri"/>
              </a:rPr>
              <a:t>ICMR-NIN 2020 protein RDA and EAR</a:t>
            </a:r>
          </a:p>
        </p:txBody>
      </p:sp>
      <p:sp>
        <p:nvSpPr>
          <p:cNvPr id="13" name="BarLabel"/>
          <p:cNvSpPr txBox="1"/>
          <p:nvPr/>
        </p:nvSpPr>
        <p:spPr>
          <a:xfrm>
            <a:off x="731520" y="2857500"/>
            <a:ext cx="3383280" cy="329184"/>
          </a:xfrm>
          <a:prstGeom prst="rect">
            <a:avLst/>
          </a:prstGeom>
          <a:noFill/>
        </p:spPr>
        <p:txBody>
          <a:bodyPr wrap="square" lIns="109728" tIns="45720" rIns="109728" bIns="45720" anchor="ctr">
            <a:normAutofit/>
          </a:bodyPr>
          <a:lstStyle/>
          <a:p>
            <a:pPr algn="l">
              <a:lnSpc>
                <a:spcPct val="95000"/>
              </a:lnSpc>
              <a:buNone/>
            </a:pPr>
            <a:r>
              <a:rPr lang="en-US" sz="1150" dirty="0">
                <a:solidFill>
                  <a:srgbClr val="172320"/>
                </a:solidFill>
                <a:latin typeface="Calibri"/>
              </a:rPr>
              <a:t>Lactating women (19-49 y)</a:t>
            </a:r>
          </a:p>
        </p:txBody>
      </p:sp>
      <p:sp>
        <p:nvSpPr>
          <p:cNvPr id="14" name="Track"/>
          <p:cNvSpPr/>
          <p:nvPr/>
        </p:nvSpPr>
        <p:spPr>
          <a:xfrm>
            <a:off x="4206240" y="2966131"/>
            <a:ext cx="5928055" cy="111923"/>
          </a:xfrm>
          <a:prstGeom prst="rect">
            <a:avLst/>
          </a:prstGeom>
          <a:solidFill>
            <a:srgbClr val="E7F3EC"/>
          </a:solidFill>
        </p:spPr>
        <p:txBody>
          <a:bodyPr/>
          <a:lstStyle/>
          <a:p>
            <a:pPr>
              <a:buNone/>
            </a:pPr>
          </a:p>
        </p:txBody>
      </p:sp>
      <p:sp>
        <p:nvSpPr>
          <p:cNvPr id="15" name="Bar"/>
          <p:cNvSpPr/>
          <p:nvPr/>
        </p:nvSpPr>
        <p:spPr>
          <a:xfrm>
            <a:off x="4206240" y="2966131"/>
            <a:ext cx="955264" cy="111923"/>
          </a:xfrm>
          <a:prstGeom prst="rect">
            <a:avLst/>
          </a:prstGeom>
          <a:solidFill>
            <a:srgbClr val="1F7A4D"/>
          </a:solidFill>
        </p:spPr>
        <p:txBody>
          <a:bodyPr/>
          <a:lstStyle/>
          <a:p>
            <a:pPr>
              <a:buNone/>
            </a:pPr>
          </a:p>
        </p:txBody>
      </p:sp>
      <p:sp>
        <p:nvSpPr>
          <p:cNvPr id="16" name="BarValue"/>
          <p:cNvSpPr txBox="1"/>
          <p:nvPr/>
        </p:nvSpPr>
        <p:spPr>
          <a:xfrm>
            <a:off x="10207447" y="2912364"/>
            <a:ext cx="1463040" cy="219456"/>
          </a:xfrm>
          <a:prstGeom prst="rect">
            <a:avLst/>
          </a:prstGeom>
          <a:noFill/>
        </p:spPr>
        <p:txBody>
          <a:bodyPr wrap="square" lIns="36576" tIns="0" rIns="36576" bIns="0" anchor="ctr">
            <a:normAutofit/>
          </a:bodyPr>
          <a:lstStyle/>
          <a:p>
            <a:pPr algn="l">
              <a:buNone/>
            </a:pPr>
            <a:r>
              <a:rPr lang="en-US" sz="1000" dirty="0" b="1">
                <a:solidFill>
                  <a:srgbClr val="172320"/>
                </a:solidFill>
                <a:latin typeface="Calibri"/>
              </a:rPr>
              <a:t>28%</a:t>
            </a:r>
          </a:p>
        </p:txBody>
      </p:sp>
      <p:sp>
        <p:nvSpPr>
          <p:cNvPr id="17" name="BarLabel"/>
          <p:cNvSpPr txBox="1"/>
          <p:nvPr/>
        </p:nvSpPr>
        <p:spPr>
          <a:xfrm>
            <a:off x="731520" y="3186684"/>
            <a:ext cx="3383280" cy="329184"/>
          </a:xfrm>
          <a:prstGeom prst="rect">
            <a:avLst/>
          </a:prstGeom>
          <a:noFill/>
        </p:spPr>
        <p:txBody>
          <a:bodyPr wrap="square" lIns="109728" tIns="45720" rIns="109728" bIns="45720" anchor="ctr">
            <a:normAutofit/>
          </a:bodyPr>
          <a:lstStyle/>
          <a:p>
            <a:pPr algn="l">
              <a:lnSpc>
                <a:spcPct val="95000"/>
              </a:lnSpc>
              <a:buNone/>
            </a:pPr>
            <a:r>
              <a:rPr lang="en-US" sz="1150" dirty="0">
                <a:solidFill>
                  <a:srgbClr val="172320"/>
                </a:solidFill>
                <a:latin typeface="Calibri"/>
              </a:rPr>
              <a:t>Pregnant women (19-49 y)</a:t>
            </a:r>
          </a:p>
        </p:txBody>
      </p:sp>
      <p:sp>
        <p:nvSpPr>
          <p:cNvPr id="18" name="Track"/>
          <p:cNvSpPr/>
          <p:nvPr/>
        </p:nvSpPr>
        <p:spPr>
          <a:xfrm>
            <a:off x="4206240" y="3295315"/>
            <a:ext cx="5928055" cy="111923"/>
          </a:xfrm>
          <a:prstGeom prst="rect">
            <a:avLst/>
          </a:prstGeom>
          <a:solidFill>
            <a:srgbClr val="E7F3EC"/>
          </a:solidFill>
        </p:spPr>
        <p:txBody>
          <a:bodyPr/>
          <a:lstStyle/>
          <a:p>
            <a:pPr>
              <a:buNone/>
            </a:pPr>
          </a:p>
        </p:txBody>
      </p:sp>
      <p:sp>
        <p:nvSpPr>
          <p:cNvPr id="19" name="Bar"/>
          <p:cNvSpPr/>
          <p:nvPr/>
        </p:nvSpPr>
        <p:spPr>
          <a:xfrm>
            <a:off x="4206240" y="3295315"/>
            <a:ext cx="1111087" cy="111923"/>
          </a:xfrm>
          <a:prstGeom prst="rect">
            <a:avLst/>
          </a:prstGeom>
          <a:solidFill>
            <a:srgbClr val="1F7A4D"/>
          </a:solidFill>
        </p:spPr>
        <p:txBody>
          <a:bodyPr/>
          <a:lstStyle/>
          <a:p>
            <a:pPr>
              <a:buNone/>
            </a:pPr>
          </a:p>
        </p:txBody>
      </p:sp>
      <p:sp>
        <p:nvSpPr>
          <p:cNvPr id="20" name="BarValue"/>
          <p:cNvSpPr txBox="1"/>
          <p:nvPr/>
        </p:nvSpPr>
        <p:spPr>
          <a:xfrm>
            <a:off x="10207447" y="3241548"/>
            <a:ext cx="1463040" cy="219456"/>
          </a:xfrm>
          <a:prstGeom prst="rect">
            <a:avLst/>
          </a:prstGeom>
          <a:noFill/>
        </p:spPr>
        <p:txBody>
          <a:bodyPr wrap="square" lIns="36576" tIns="0" rIns="36576" bIns="0" anchor="ctr">
            <a:normAutofit/>
          </a:bodyPr>
          <a:lstStyle/>
          <a:p>
            <a:pPr algn="l">
              <a:buNone/>
            </a:pPr>
            <a:r>
              <a:rPr lang="en-US" sz="1000" dirty="0" b="1">
                <a:solidFill>
                  <a:srgbClr val="172320"/>
                </a:solidFill>
                <a:latin typeface="Calibri"/>
              </a:rPr>
              <a:t>33%</a:t>
            </a:r>
          </a:p>
        </p:txBody>
      </p:sp>
      <p:sp>
        <p:nvSpPr>
          <p:cNvPr id="21" name="BarLabel"/>
          <p:cNvSpPr txBox="1"/>
          <p:nvPr/>
        </p:nvSpPr>
        <p:spPr>
          <a:xfrm>
            <a:off x="731520" y="3515868"/>
            <a:ext cx="3383280" cy="329184"/>
          </a:xfrm>
          <a:prstGeom prst="rect">
            <a:avLst/>
          </a:prstGeom>
          <a:noFill/>
        </p:spPr>
        <p:txBody>
          <a:bodyPr wrap="square" lIns="109728" tIns="45720" rIns="109728" bIns="45720" anchor="ctr">
            <a:normAutofit/>
          </a:bodyPr>
          <a:lstStyle/>
          <a:p>
            <a:pPr algn="l">
              <a:lnSpc>
                <a:spcPct val="95000"/>
              </a:lnSpc>
              <a:buNone/>
            </a:pPr>
            <a:r>
              <a:rPr lang="en-US" sz="1150" dirty="0">
                <a:solidFill>
                  <a:srgbClr val="172320"/>
                </a:solidFill>
                <a:latin typeface="Calibri"/>
              </a:rPr>
              <a:t>Adult women (19-59 y)</a:t>
            </a:r>
          </a:p>
        </p:txBody>
      </p:sp>
      <p:sp>
        <p:nvSpPr>
          <p:cNvPr id="22" name="Track"/>
          <p:cNvSpPr/>
          <p:nvPr/>
        </p:nvSpPr>
        <p:spPr>
          <a:xfrm>
            <a:off x="4206240" y="3624499"/>
            <a:ext cx="5928055" cy="111923"/>
          </a:xfrm>
          <a:prstGeom prst="rect">
            <a:avLst/>
          </a:prstGeom>
          <a:solidFill>
            <a:srgbClr val="E7F3EC"/>
          </a:solidFill>
        </p:spPr>
        <p:txBody>
          <a:bodyPr/>
          <a:lstStyle/>
          <a:p>
            <a:pPr>
              <a:buNone/>
            </a:pPr>
          </a:p>
        </p:txBody>
      </p:sp>
      <p:sp>
        <p:nvSpPr>
          <p:cNvPr id="23" name="Bar"/>
          <p:cNvSpPr/>
          <p:nvPr/>
        </p:nvSpPr>
        <p:spPr>
          <a:xfrm>
            <a:off x="4206240" y="3624499"/>
            <a:ext cx="1473545" cy="111923"/>
          </a:xfrm>
          <a:prstGeom prst="rect">
            <a:avLst/>
          </a:prstGeom>
          <a:solidFill>
            <a:srgbClr val="1F7A4D"/>
          </a:solidFill>
        </p:spPr>
        <p:txBody>
          <a:bodyPr/>
          <a:lstStyle/>
          <a:p>
            <a:pPr>
              <a:buNone/>
            </a:pPr>
          </a:p>
        </p:txBody>
      </p:sp>
      <p:sp>
        <p:nvSpPr>
          <p:cNvPr id="24" name="BarValue"/>
          <p:cNvSpPr txBox="1"/>
          <p:nvPr/>
        </p:nvSpPr>
        <p:spPr>
          <a:xfrm>
            <a:off x="10207447" y="3570732"/>
            <a:ext cx="1463040" cy="219456"/>
          </a:xfrm>
          <a:prstGeom prst="rect">
            <a:avLst/>
          </a:prstGeom>
          <a:noFill/>
        </p:spPr>
        <p:txBody>
          <a:bodyPr wrap="square" lIns="36576" tIns="0" rIns="36576" bIns="0" anchor="ctr">
            <a:normAutofit/>
          </a:bodyPr>
          <a:lstStyle/>
          <a:p>
            <a:pPr algn="l">
              <a:buNone/>
            </a:pPr>
            <a:r>
              <a:rPr lang="en-US" sz="1000" dirty="0" b="1">
                <a:solidFill>
                  <a:srgbClr val="172320"/>
                </a:solidFill>
                <a:latin typeface="Calibri"/>
              </a:rPr>
              <a:t>44%</a:t>
            </a:r>
          </a:p>
        </p:txBody>
      </p:sp>
      <p:sp>
        <p:nvSpPr>
          <p:cNvPr id="25" name="BarLabel"/>
          <p:cNvSpPr txBox="1"/>
          <p:nvPr/>
        </p:nvSpPr>
        <p:spPr>
          <a:xfrm>
            <a:off x="731520" y="3845052"/>
            <a:ext cx="3383280" cy="329184"/>
          </a:xfrm>
          <a:prstGeom prst="rect">
            <a:avLst/>
          </a:prstGeom>
          <a:noFill/>
        </p:spPr>
        <p:txBody>
          <a:bodyPr wrap="square" lIns="109728" tIns="45720" rIns="109728" bIns="45720" anchor="ctr">
            <a:normAutofit/>
          </a:bodyPr>
          <a:lstStyle/>
          <a:p>
            <a:pPr algn="l">
              <a:lnSpc>
                <a:spcPct val="95000"/>
              </a:lnSpc>
              <a:buNone/>
            </a:pPr>
            <a:r>
              <a:rPr lang="en-US" sz="1150" dirty="0">
                <a:solidFill>
                  <a:srgbClr val="172320"/>
                </a:solidFill>
                <a:latin typeface="Calibri"/>
              </a:rPr>
              <a:t>Women 60+ (60+ y)</a:t>
            </a:r>
          </a:p>
        </p:txBody>
      </p:sp>
      <p:sp>
        <p:nvSpPr>
          <p:cNvPr id="26" name="Track"/>
          <p:cNvSpPr/>
          <p:nvPr/>
        </p:nvSpPr>
        <p:spPr>
          <a:xfrm>
            <a:off x="4206240" y="3953683"/>
            <a:ext cx="5928055" cy="111923"/>
          </a:xfrm>
          <a:prstGeom prst="rect">
            <a:avLst/>
          </a:prstGeom>
          <a:solidFill>
            <a:srgbClr val="E7F3EC"/>
          </a:solidFill>
        </p:spPr>
        <p:txBody>
          <a:bodyPr/>
          <a:lstStyle/>
          <a:p>
            <a:pPr>
              <a:buNone/>
            </a:pPr>
          </a:p>
        </p:txBody>
      </p:sp>
      <p:sp>
        <p:nvSpPr>
          <p:cNvPr id="27" name="Bar"/>
          <p:cNvSpPr/>
          <p:nvPr/>
        </p:nvSpPr>
        <p:spPr>
          <a:xfrm>
            <a:off x="4206240" y="3953683"/>
            <a:ext cx="1473545" cy="111923"/>
          </a:xfrm>
          <a:prstGeom prst="rect">
            <a:avLst/>
          </a:prstGeom>
          <a:solidFill>
            <a:srgbClr val="1F7A4D"/>
          </a:solidFill>
        </p:spPr>
        <p:txBody>
          <a:bodyPr/>
          <a:lstStyle/>
          <a:p>
            <a:pPr>
              <a:buNone/>
            </a:pPr>
          </a:p>
        </p:txBody>
      </p:sp>
      <p:sp>
        <p:nvSpPr>
          <p:cNvPr id="28" name="BarValue"/>
          <p:cNvSpPr txBox="1"/>
          <p:nvPr/>
        </p:nvSpPr>
        <p:spPr>
          <a:xfrm>
            <a:off x="10207447" y="3899916"/>
            <a:ext cx="1463040" cy="219456"/>
          </a:xfrm>
          <a:prstGeom prst="rect">
            <a:avLst/>
          </a:prstGeom>
          <a:noFill/>
        </p:spPr>
        <p:txBody>
          <a:bodyPr wrap="square" lIns="36576" tIns="0" rIns="36576" bIns="0" anchor="ctr">
            <a:normAutofit/>
          </a:bodyPr>
          <a:lstStyle/>
          <a:p>
            <a:pPr algn="l">
              <a:buNone/>
            </a:pPr>
            <a:r>
              <a:rPr lang="en-US" sz="1000" dirty="0" b="1">
                <a:solidFill>
                  <a:srgbClr val="172320"/>
                </a:solidFill>
                <a:latin typeface="Calibri"/>
              </a:rPr>
              <a:t>44%</a:t>
            </a:r>
          </a:p>
        </p:txBody>
      </p:sp>
      <p:sp>
        <p:nvSpPr>
          <p:cNvPr id="29" name="BarLabel"/>
          <p:cNvSpPr txBox="1"/>
          <p:nvPr/>
        </p:nvSpPr>
        <p:spPr>
          <a:xfrm>
            <a:off x="731520" y="4174236"/>
            <a:ext cx="3383280" cy="329184"/>
          </a:xfrm>
          <a:prstGeom prst="rect">
            <a:avLst/>
          </a:prstGeom>
          <a:noFill/>
        </p:spPr>
        <p:txBody>
          <a:bodyPr wrap="square" lIns="109728" tIns="45720" rIns="109728" bIns="45720" anchor="ctr">
            <a:normAutofit/>
          </a:bodyPr>
          <a:lstStyle/>
          <a:p>
            <a:pPr algn="l">
              <a:lnSpc>
                <a:spcPct val="95000"/>
              </a:lnSpc>
              <a:buNone/>
            </a:pPr>
            <a:r>
              <a:rPr lang="en-US" sz="1150" dirty="0">
                <a:solidFill>
                  <a:srgbClr val="172320"/>
                </a:solidFill>
                <a:latin typeface="Calibri"/>
              </a:rPr>
              <a:t>Girls 13-15 (13-15 y)</a:t>
            </a:r>
          </a:p>
        </p:txBody>
      </p:sp>
      <p:sp>
        <p:nvSpPr>
          <p:cNvPr id="30" name="Track"/>
          <p:cNvSpPr/>
          <p:nvPr/>
        </p:nvSpPr>
        <p:spPr>
          <a:xfrm>
            <a:off x="4206240" y="4282867"/>
            <a:ext cx="5928055" cy="111923"/>
          </a:xfrm>
          <a:prstGeom prst="rect">
            <a:avLst/>
          </a:prstGeom>
          <a:solidFill>
            <a:srgbClr val="E7F3EC"/>
          </a:solidFill>
        </p:spPr>
        <p:txBody>
          <a:bodyPr/>
          <a:lstStyle/>
          <a:p>
            <a:pPr>
              <a:buNone/>
            </a:pPr>
          </a:p>
        </p:txBody>
      </p:sp>
      <p:sp>
        <p:nvSpPr>
          <p:cNvPr id="31" name="Bar"/>
          <p:cNvSpPr/>
          <p:nvPr/>
        </p:nvSpPr>
        <p:spPr>
          <a:xfrm>
            <a:off x="4206240" y="4282867"/>
            <a:ext cx="1693730" cy="111923"/>
          </a:xfrm>
          <a:prstGeom prst="rect">
            <a:avLst/>
          </a:prstGeom>
          <a:solidFill>
            <a:srgbClr val="1F7A4D"/>
          </a:solidFill>
        </p:spPr>
        <p:txBody>
          <a:bodyPr/>
          <a:lstStyle/>
          <a:p>
            <a:pPr>
              <a:buNone/>
            </a:pPr>
          </a:p>
        </p:txBody>
      </p:sp>
      <p:sp>
        <p:nvSpPr>
          <p:cNvPr id="32" name="BarValue"/>
          <p:cNvSpPr txBox="1"/>
          <p:nvPr/>
        </p:nvSpPr>
        <p:spPr>
          <a:xfrm>
            <a:off x="10207447" y="4229100"/>
            <a:ext cx="1463040" cy="219456"/>
          </a:xfrm>
          <a:prstGeom prst="rect">
            <a:avLst/>
          </a:prstGeom>
          <a:noFill/>
        </p:spPr>
        <p:txBody>
          <a:bodyPr wrap="square" lIns="36576" tIns="0" rIns="36576" bIns="0" anchor="ctr">
            <a:normAutofit/>
          </a:bodyPr>
          <a:lstStyle/>
          <a:p>
            <a:pPr algn="l">
              <a:buNone/>
            </a:pPr>
            <a:r>
              <a:rPr lang="en-US" sz="1000" dirty="0" b="1">
                <a:solidFill>
                  <a:srgbClr val="172320"/>
                </a:solidFill>
                <a:latin typeface="Calibri"/>
              </a:rPr>
              <a:t>50%</a:t>
            </a:r>
          </a:p>
        </p:txBody>
      </p:sp>
      <p:sp>
        <p:nvSpPr>
          <p:cNvPr id="33" name="BarLabel"/>
          <p:cNvSpPr txBox="1"/>
          <p:nvPr/>
        </p:nvSpPr>
        <p:spPr>
          <a:xfrm>
            <a:off x="731520" y="4503420"/>
            <a:ext cx="3383280" cy="329184"/>
          </a:xfrm>
          <a:prstGeom prst="rect">
            <a:avLst/>
          </a:prstGeom>
          <a:noFill/>
        </p:spPr>
        <p:txBody>
          <a:bodyPr wrap="square" lIns="109728" tIns="45720" rIns="109728" bIns="45720" anchor="ctr">
            <a:normAutofit/>
          </a:bodyPr>
          <a:lstStyle/>
          <a:p>
            <a:pPr algn="l">
              <a:lnSpc>
                <a:spcPct val="95000"/>
              </a:lnSpc>
              <a:buNone/>
            </a:pPr>
            <a:r>
              <a:rPr lang="en-US" sz="1150" dirty="0">
                <a:solidFill>
                  <a:srgbClr val="172320"/>
                </a:solidFill>
                <a:latin typeface="Calibri"/>
              </a:rPr>
              <a:t>Kids 1-3 (1-3 y)</a:t>
            </a:r>
          </a:p>
        </p:txBody>
      </p:sp>
      <p:sp>
        <p:nvSpPr>
          <p:cNvPr id="34" name="Track"/>
          <p:cNvSpPr/>
          <p:nvPr/>
        </p:nvSpPr>
        <p:spPr>
          <a:xfrm>
            <a:off x="4206240" y="4612051"/>
            <a:ext cx="5928055" cy="111923"/>
          </a:xfrm>
          <a:prstGeom prst="rect">
            <a:avLst/>
          </a:prstGeom>
          <a:solidFill>
            <a:srgbClr val="E7F3EC"/>
          </a:solidFill>
        </p:spPr>
        <p:txBody>
          <a:bodyPr/>
          <a:lstStyle/>
          <a:p>
            <a:pPr>
              <a:buNone/>
            </a:pPr>
          </a:p>
        </p:txBody>
      </p:sp>
      <p:sp>
        <p:nvSpPr>
          <p:cNvPr id="35" name="Bar"/>
          <p:cNvSpPr/>
          <p:nvPr/>
        </p:nvSpPr>
        <p:spPr>
          <a:xfrm>
            <a:off x="4206240" y="4612051"/>
            <a:ext cx="5419936" cy="111923"/>
          </a:xfrm>
          <a:prstGeom prst="rect">
            <a:avLst/>
          </a:prstGeom>
          <a:solidFill>
            <a:srgbClr val="1F7A4D"/>
          </a:solidFill>
        </p:spPr>
        <p:txBody>
          <a:bodyPr/>
          <a:lstStyle/>
          <a:p>
            <a:pPr>
              <a:buNone/>
            </a:pPr>
          </a:p>
        </p:txBody>
      </p:sp>
      <p:sp>
        <p:nvSpPr>
          <p:cNvPr id="36" name="BarValue"/>
          <p:cNvSpPr txBox="1"/>
          <p:nvPr/>
        </p:nvSpPr>
        <p:spPr>
          <a:xfrm>
            <a:off x="10207447" y="4558284"/>
            <a:ext cx="1463040" cy="219456"/>
          </a:xfrm>
          <a:prstGeom prst="rect">
            <a:avLst/>
          </a:prstGeom>
          <a:noFill/>
        </p:spPr>
        <p:txBody>
          <a:bodyPr wrap="square" lIns="36576" tIns="0" rIns="36576" bIns="0" anchor="ctr">
            <a:normAutofit/>
          </a:bodyPr>
          <a:lstStyle/>
          <a:p>
            <a:pPr algn="l">
              <a:buNone/>
            </a:pPr>
            <a:r>
              <a:rPr lang="en-US" sz="1000" dirty="0" b="1">
                <a:solidFill>
                  <a:srgbClr val="172320"/>
                </a:solidFill>
                <a:latin typeface="Calibri"/>
              </a:rPr>
              <a:t>160%</a:t>
            </a:r>
          </a:p>
        </p:txBody>
      </p:sp>
      <p:sp>
        <p:nvSpPr>
          <p:cNvPr id="37" name="BarCaption"/>
          <p:cNvSpPr txBox="1"/>
          <p:nvPr/>
        </p:nvSpPr>
        <p:spPr>
          <a:xfrm>
            <a:off x="731520" y="4850892"/>
            <a:ext cx="10957255" cy="274320"/>
          </a:xfrm>
          <a:prstGeom prst="rect">
            <a:avLst/>
          </a:prstGeom>
          <a:noFill/>
        </p:spPr>
        <p:txBody>
          <a:bodyPr wrap="square" lIns="109728" tIns="45720" rIns="109728" bIns="45720" anchor="t">
            <a:normAutofit/>
          </a:bodyPr>
          <a:lstStyle/>
          <a:p>
            <a:pPr algn="l">
              <a:lnSpc>
                <a:spcPct val="95000"/>
              </a:lnSpc>
              <a:buNone/>
            </a:pPr>
            <a:r>
              <a:rPr lang="en-US" sz="1000" dirty="0">
                <a:solidFill>
                  <a:srgbClr val="5C6B62"/>
                </a:solidFill>
                <a:latin typeface="Calibri"/>
              </a:rPr>
              <a:t>One bottle's protein as a share of that group's daily requirement - 15 groups, ICMR-NIN 2020 protein RDA and EAR. Product-development guidance, not medical advice.</a:t>
            </a:r>
          </a:p>
        </p:txBody>
      </p:sp>
      <p:sp>
        <p:nvSpPr>
          <p:cNvPr id="38" name="Callout"/>
          <p:cNvSpPr/>
          <p:nvPr/>
        </p:nvSpPr>
        <p:spPr>
          <a:xfrm>
            <a:off x="731520" y="5321808"/>
            <a:ext cx="10957255" cy="713232"/>
          </a:xfrm>
          <a:prstGeom prst="roundRect">
            <a:avLst/>
          </a:prstGeom>
          <a:solidFill>
            <a:srgbClr val="E7F3EC"/>
          </a:solidFill>
        </p:spPr>
        <p:txBody>
          <a:bodyPr/>
          <a:lstStyle/>
          <a:p>
            <a:pPr>
              <a:buNone/>
            </a:pPr>
          </a:p>
        </p:txBody>
      </p:sp>
      <p:sp>
        <p:nvSpPr>
          <p:cNvPr id="39" name="CalloutText"/>
          <p:cNvSpPr txBox="1"/>
          <p:nvPr/>
        </p:nvSpPr>
        <p:spPr>
          <a:xfrm>
            <a:off x="932688" y="5321808"/>
            <a:ext cx="10554919" cy="713232"/>
          </a:xfrm>
          <a:prstGeom prst="rect">
            <a:avLst/>
          </a:prstGeom>
          <a:noFill/>
        </p:spPr>
        <p:txBody>
          <a:bodyPr wrap="square" lIns="109728" tIns="45720" rIns="109728" bIns="45720" anchor="ctr">
            <a:normAutofit/>
          </a:bodyPr>
          <a:lstStyle/>
          <a:p>
            <a:pPr algn="l">
              <a:buNone/>
            </a:pPr>
            <a:r>
              <a:rPr lang="en-US" sz="1300" dirty="0">
                <a:solidFill>
                  <a:srgbClr val="172320"/>
                </a:solidFill>
                <a:latin typeface="Calibri"/>
              </a:rPr>
              <a:t>The closed loop diagnosed the plant fault on this product and cleared the gate in 2 trials (the line's heat exchanger ran 8 degC below setpoint).</a:t>
            </a:r>
          </a:p>
        </p:txBody>
      </p:sp>
      <p:sp>
        <p:nvSpPr>
          <p:cNvPr id="40" name="Footer"/>
          <p:cNvSpPr txBox="1"/>
          <p:nvPr/>
        </p:nvSpPr>
        <p:spPr>
          <a:xfrm>
            <a:off x="731520" y="6236208"/>
            <a:ext cx="10957255" cy="310896"/>
          </a:xfrm>
          <a:prstGeom prst="rect">
            <a:avLst/>
          </a:prstGeom>
          <a:noFill/>
        </p:spPr>
        <p:txBody>
          <a:bodyPr wrap="square" lIns="109728" tIns="45720" rIns="109728" bIns="45720" anchor="t">
            <a:normAutofit/>
          </a:bodyPr>
          <a:lstStyle/>
          <a:p>
            <a:pPr algn="l">
              <a:buNone/>
            </a:pPr>
            <a:r>
              <a:rPr lang="en-US" sz="950" dirty="0">
                <a:solidFill>
                  <a:srgbClr val="5C6B62"/>
                </a:solidFill>
                <a:latin typeface="Calibri"/>
              </a:rPr>
              <a:t>Technostatic Wings  |  FormuSense  |  Problem Statement PS-1, Tiny Dot Foods          Slide 6 of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Bar"/>
          <p:cNvSpPr txBox="1"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F7A4D"/>
          </a:solidFill>
        </p:spPr>
        <p:txBody>
          <a:bodyPr wrap="square" lIns="109728" tIns="45720" rIns="109728" bIns="45720" anchor="t">
            <a:normAutofit/>
          </a:bodyPr>
          <a:lstStyle/>
          <a:p>
            <a:pPr>
              <a:buNone/>
            </a:pPr>
          </a:p>
        </p:txBody>
      </p:sp>
      <p:sp>
        <p:nvSpPr>
          <p:cNvPr id="3" name="SlideTitle"/>
          <p:cNvSpPr txBox="1"/>
          <p:nvPr/>
        </p:nvSpPr>
        <p:spPr>
          <a:xfrm>
            <a:off x="731520" y="384048"/>
            <a:ext cx="10957255" cy="868680"/>
          </a:xfrm>
          <a:prstGeom prst="rect">
            <a:avLst/>
          </a:prstGeom>
          <a:noFill/>
        </p:spPr>
        <p:txBody>
          <a:bodyPr wrap="square" lIns="109728" tIns="45720" rIns="109728" bIns="45720" anchor="t">
            <a:normAutofit/>
          </a:bodyPr>
          <a:lstStyle/>
          <a:p>
            <a:pPr algn="l">
              <a:buNone/>
            </a:pPr>
            <a:r>
              <a:rPr lang="en-US" sz="2600" dirty="0" b="1">
                <a:solidFill>
                  <a:srgbClr val="172320"/>
                </a:solidFill>
                <a:latin typeface="Calibri Light"/>
              </a:rPr>
              <a:t>Verification, Deliverables and Honest Limits</a:t>
            </a:r>
          </a:p>
        </p:txBody>
      </p:sp>
      <p:sp>
        <p:nvSpPr>
          <p:cNvPr id="4" name="Rule"/>
          <p:cNvSpPr txBox="1"/>
          <p:nvPr/>
        </p:nvSpPr>
        <p:spPr>
          <a:xfrm>
            <a:off x="731520" y="1389888"/>
            <a:ext cx="10957255" cy="27432"/>
          </a:xfrm>
          <a:prstGeom prst="rect">
            <a:avLst/>
          </a:prstGeom>
          <a:solidFill>
            <a:srgbClr val="D6DFD9"/>
          </a:solidFill>
        </p:spPr>
        <p:txBody>
          <a:bodyPr wrap="square" lIns="109728" tIns="45720" rIns="109728" bIns="45720" anchor="t">
            <a:normAutofit/>
          </a:bodyPr>
          <a:lstStyle/>
          <a:p>
            <a:pPr>
              <a:buNone/>
            </a:pPr>
          </a:p>
        </p:txBody>
      </p:sp>
      <p:sp>
        <p:nvSpPr>
          <p:cNvPr id="5" name="Card"/>
          <p:cNvSpPr/>
          <p:nvPr/>
        </p:nvSpPr>
        <p:spPr>
          <a:xfrm>
            <a:off x="731520" y="1627632"/>
            <a:ext cx="3542690" cy="1051560"/>
          </a:xfrm>
          <a:prstGeom prst="roundRect">
            <a:avLst/>
          </a:prstGeom>
          <a:solidFill>
            <a:srgbClr val="E7F3EC"/>
          </a:solidFill>
          <a:ln w="9525">
            <a:solidFill>
              <a:srgbClr val="D6DFD9"/>
            </a:solidFill>
          </a:ln>
        </p:spPr>
        <p:txBody>
          <a:bodyPr/>
          <a:lstStyle/>
          <a:p>
            <a:pPr>
              <a:buNone/>
            </a:pPr>
          </a:p>
        </p:txBody>
      </p:sp>
      <p:sp>
        <p:nvSpPr>
          <p:cNvPr id="6" name="CardText"/>
          <p:cNvSpPr txBox="1"/>
          <p:nvPr/>
        </p:nvSpPr>
        <p:spPr>
          <a:xfrm>
            <a:off x="859536" y="1719072"/>
            <a:ext cx="3286658" cy="868680"/>
          </a:xfrm>
          <a:prstGeom prst="rect">
            <a:avLst/>
          </a:prstGeom>
          <a:noFill/>
        </p:spPr>
        <p:txBody>
          <a:bodyPr wrap="square" lIns="109728" tIns="45720" rIns="109728" bIns="45720" anchor="ctr">
            <a:norm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en-US" sz="2600" dirty="0" b="1">
                <a:solidFill>
                  <a:srgbClr val="1F7A4D"/>
                </a:solidFill>
                <a:latin typeface="Calibri Light"/>
              </a:rPr>
              <a:t>166</a:t>
            </a:r>
          </a:p>
          <a:p>
            <a:pPr algn="l">
              <a:spcAft>
                <a:spcPts val="200"/>
              </a:spcAft>
              <a:buNone/>
            </a:pPr>
            <a:r>
              <a:rPr lang="en-US" sz="1250" dirty="0" b="1">
                <a:solidFill>
                  <a:srgbClr val="172320"/>
                </a:solidFill>
                <a:latin typeface="Calibri"/>
              </a:rPr>
              <a:t>automated tests green</a:t>
            </a:r>
          </a:p>
          <a:p>
            <a:pPr algn="l">
              <a:buNone/>
            </a:pPr>
            <a:r>
              <a:rPr lang="en-US" sz="1050" dirty="0">
                <a:solidFill>
                  <a:srgbClr val="5C6B62"/>
                </a:solidFill>
                <a:latin typeface="Calibri"/>
              </a:rPr>
              <a:t>1 skipped: the live PostgreSQL round trip</a:t>
            </a:r>
          </a:p>
        </p:txBody>
      </p:sp>
      <p:sp>
        <p:nvSpPr>
          <p:cNvPr id="7" name="Card"/>
          <p:cNvSpPr/>
          <p:nvPr/>
        </p:nvSpPr>
        <p:spPr>
          <a:xfrm>
            <a:off x="4438802" y="1627632"/>
            <a:ext cx="3542690" cy="1051560"/>
          </a:xfrm>
          <a:prstGeom prst="roundRect">
            <a:avLst/>
          </a:prstGeom>
          <a:solidFill>
            <a:srgbClr val="E7F3EC"/>
          </a:solidFill>
          <a:ln w="9525">
            <a:solidFill>
              <a:srgbClr val="D6DFD9"/>
            </a:solidFill>
          </a:ln>
        </p:spPr>
        <p:txBody>
          <a:bodyPr/>
          <a:lstStyle/>
          <a:p>
            <a:pPr>
              <a:buNone/>
            </a:pPr>
          </a:p>
        </p:txBody>
      </p:sp>
      <p:sp>
        <p:nvSpPr>
          <p:cNvPr id="8" name="CardText"/>
          <p:cNvSpPr txBox="1"/>
          <p:nvPr/>
        </p:nvSpPr>
        <p:spPr>
          <a:xfrm>
            <a:off x="4566818" y="1719072"/>
            <a:ext cx="3286658" cy="868680"/>
          </a:xfrm>
          <a:prstGeom prst="rect">
            <a:avLst/>
          </a:prstGeom>
          <a:noFill/>
        </p:spPr>
        <p:txBody>
          <a:bodyPr wrap="square" lIns="109728" tIns="45720" rIns="109728" bIns="45720" anchor="ctr">
            <a:norm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en-US" sz="2600" dirty="0" b="1">
                <a:solidFill>
                  <a:srgbClr val="1F7A4D"/>
                </a:solidFill>
                <a:latin typeface="Calibri Light"/>
              </a:rPr>
              <a:t>3</a:t>
            </a:r>
          </a:p>
          <a:p>
            <a:pPr algn="l">
              <a:spcAft>
                <a:spcPts val="200"/>
              </a:spcAft>
              <a:buNone/>
            </a:pPr>
            <a:r>
              <a:rPr lang="en-US" sz="1250" dirty="0" b="1">
                <a:solidFill>
                  <a:srgbClr val="172320"/>
                </a:solidFill>
                <a:latin typeface="Calibri"/>
              </a:rPr>
              <a:t>CI jobs on every push</a:t>
            </a:r>
          </a:p>
          <a:p>
            <a:pPr algn="l">
              <a:buNone/>
            </a:pPr>
            <a:r>
              <a:rPr lang="en-US" sz="1050" dirty="0">
                <a:solidFill>
                  <a:srgbClr val="5C6B62"/>
                </a:solidFill>
                <a:latin typeface="Calibri"/>
              </a:rPr>
              <a:t>offline, learning, postgres</a:t>
            </a:r>
          </a:p>
        </p:txBody>
      </p:sp>
      <p:sp>
        <p:nvSpPr>
          <p:cNvPr id="9" name="Card"/>
          <p:cNvSpPr/>
          <p:nvPr/>
        </p:nvSpPr>
        <p:spPr>
          <a:xfrm>
            <a:off x="8146085" y="1627632"/>
            <a:ext cx="3542690" cy="1051560"/>
          </a:xfrm>
          <a:prstGeom prst="roundRect">
            <a:avLst/>
          </a:prstGeom>
          <a:solidFill>
            <a:srgbClr val="E7F3EC"/>
          </a:solidFill>
          <a:ln w="9525">
            <a:solidFill>
              <a:srgbClr val="D6DFD9"/>
            </a:solidFill>
          </a:ln>
        </p:spPr>
        <p:txBody>
          <a:bodyPr/>
          <a:lstStyle/>
          <a:p>
            <a:pPr>
              <a:buNone/>
            </a:pPr>
          </a:p>
        </p:txBody>
      </p:sp>
      <p:sp>
        <p:nvSpPr>
          <p:cNvPr id="10" name="CardText"/>
          <p:cNvSpPr txBox="1"/>
          <p:nvPr/>
        </p:nvSpPr>
        <p:spPr>
          <a:xfrm>
            <a:off x="8274101" y="1719072"/>
            <a:ext cx="3286658" cy="868680"/>
          </a:xfrm>
          <a:prstGeom prst="rect">
            <a:avLst/>
          </a:prstGeom>
          <a:noFill/>
        </p:spPr>
        <p:txBody>
          <a:bodyPr wrap="square" lIns="109728" tIns="45720" rIns="109728" bIns="45720" anchor="ctr">
            <a:norm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en-US" sz="2600" dirty="0" b="1">
                <a:solidFill>
                  <a:srgbClr val="1F7A4D"/>
                </a:solidFill>
                <a:latin typeface="Calibri Light"/>
              </a:rPr>
              <a:t>0</a:t>
            </a:r>
          </a:p>
          <a:p>
            <a:pPr algn="l">
              <a:spcAft>
                <a:spcPts val="200"/>
              </a:spcAft>
              <a:buNone/>
            </a:pPr>
            <a:r>
              <a:rPr lang="en-US" sz="1250" dirty="0" b="1">
                <a:solidFill>
                  <a:srgbClr val="172320"/>
                </a:solidFill>
                <a:latin typeface="Calibri"/>
              </a:rPr>
              <a:t>packages required</a:t>
            </a:r>
          </a:p>
          <a:p>
            <a:pPr algn="l">
              <a:buNone/>
            </a:pPr>
            <a:r>
              <a:rPr lang="en-US" sz="1050" dirty="0">
                <a:solidFill>
                  <a:srgbClr val="5C6B62"/>
                </a:solidFill>
                <a:latin typeface="Calibri"/>
              </a:rPr>
              <a:t>Pillow and Pygments are optional extras</a:t>
            </a:r>
          </a:p>
        </p:txBody>
      </p:sp>
      <p:sp>
        <p:nvSpPr>
          <p:cNvPr id="11" name="Column"/>
          <p:cNvSpPr/>
          <p:nvPr/>
        </p:nvSpPr>
        <p:spPr>
          <a:xfrm>
            <a:off x="731520" y="3282696"/>
            <a:ext cx="5396332" cy="275234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DFD9"/>
            </a:solidFill>
          </a:ln>
        </p:spPr>
        <p:txBody>
          <a:bodyPr/>
          <a:lstStyle/>
          <a:p>
            <a:pPr>
              <a:buNone/>
            </a:pPr>
          </a:p>
        </p:txBody>
      </p:sp>
      <p:sp>
        <p:nvSpPr>
          <p:cNvPr id="12" name="ColumnText"/>
          <p:cNvSpPr txBox="1"/>
          <p:nvPr/>
        </p:nvSpPr>
        <p:spPr>
          <a:xfrm>
            <a:off x="877824" y="3392424"/>
            <a:ext cx="5103724" cy="2532888"/>
          </a:xfrm>
          <a:prstGeom prst="rect">
            <a:avLst/>
          </a:prstGeom>
          <a:noFill/>
        </p:spPr>
        <p:txBody>
          <a:bodyPr wrap="square" lIns="109728" tIns="45720" rIns="109728" bIns="45720" anchor="t">
            <a:normAutofit/>
          </a:bodyPr>
          <a:lstStyle/>
          <a:p>
            <a:pPr algn="l">
              <a:spcAft>
                <a:spcPts val="700"/>
              </a:spcAft>
              <a:buNone/>
            </a:pPr>
            <a:r>
              <a:rPr lang="en-US" sz="1400" dirty="0" b="1">
                <a:solidFill>
                  <a:srgbClr val="1F7A4D"/>
                </a:solidFill>
                <a:latin typeface="Calibri Light"/>
              </a:rPr>
              <a:t>Deliverables</a:t>
            </a:r>
          </a:p>
          <a:p>
            <a:pPr algn="l">
              <a:lnSpc>
                <a:spcPct val="950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172320"/>
                </a:solidFill>
                <a:latin typeface="Calibri"/>
              </a:rPr>
              <a:t>The agent with a browser interface and a relational record.</a:t>
            </a:r>
          </a:p>
          <a:p>
            <a:pPr algn="l">
              <a:lnSpc>
                <a:spcPct val="950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172320"/>
                </a:solidFill>
                <a:latin typeface="Calibri"/>
              </a:rPr>
              <a:t>An offline trained model over a versioned dataset.</a:t>
            </a:r>
          </a:p>
          <a:p>
            <a:pPr algn="l">
              <a:lnSpc>
                <a:spcPct val="950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172320"/>
                </a:solidFill>
                <a:latin typeface="Calibri"/>
              </a:rPr>
              <a:t>A report and this deck, generated from the same record.</a:t>
            </a:r>
          </a:p>
        </p:txBody>
      </p:sp>
      <p:sp>
        <p:nvSpPr>
          <p:cNvPr id="13" name="Column"/>
          <p:cNvSpPr/>
          <p:nvPr/>
        </p:nvSpPr>
        <p:spPr>
          <a:xfrm>
            <a:off x="6292444" y="3282696"/>
            <a:ext cx="5396332" cy="275234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DFD9"/>
            </a:solidFill>
          </a:ln>
        </p:spPr>
        <p:txBody>
          <a:bodyPr/>
          <a:lstStyle/>
          <a:p>
            <a:pPr>
              <a:buNone/>
            </a:pPr>
          </a:p>
        </p:txBody>
      </p:sp>
      <p:sp>
        <p:nvSpPr>
          <p:cNvPr id="14" name="ColumnText"/>
          <p:cNvSpPr txBox="1"/>
          <p:nvPr/>
        </p:nvSpPr>
        <p:spPr>
          <a:xfrm>
            <a:off x="6438748" y="3392424"/>
            <a:ext cx="5103724" cy="2532888"/>
          </a:xfrm>
          <a:prstGeom prst="rect">
            <a:avLst/>
          </a:prstGeom>
          <a:noFill/>
        </p:spPr>
        <p:txBody>
          <a:bodyPr wrap="square" lIns="109728" tIns="45720" rIns="109728" bIns="45720" anchor="t">
            <a:normAutofit/>
          </a:bodyPr>
          <a:lstStyle/>
          <a:p>
            <a:pPr algn="l">
              <a:spcAft>
                <a:spcPts val="700"/>
              </a:spcAft>
              <a:buNone/>
            </a:pPr>
            <a:r>
              <a:rPr lang="en-US" sz="1400" dirty="0" b="1">
                <a:solidFill>
                  <a:srgbClr val="1F7A4D"/>
                </a:solidFill>
                <a:latin typeface="Calibri Light"/>
              </a:rPr>
              <a:t>Honest limits</a:t>
            </a:r>
          </a:p>
          <a:p>
            <a:pPr algn="l">
              <a:lnSpc>
                <a:spcPct val="950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172320"/>
                </a:solidFill>
                <a:latin typeface="Calibri"/>
              </a:rPr>
              <a:t>The plant is simulated by design: a wrong diagnosis is a bug, not luck.</a:t>
            </a:r>
          </a:p>
          <a:p>
            <a:pPr algn="l">
              <a:lnSpc>
                <a:spcPct val="950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172320"/>
                </a:solidFill>
                <a:latin typeface="Calibri"/>
              </a:rPr>
              <a:t>Ingredient data are literature values, not supplier certificates.</a:t>
            </a:r>
          </a:p>
          <a:p>
            <a:pPr algn="l">
              <a:lnSpc>
                <a:spcPct val="950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172320"/>
                </a:solidFill>
                <a:latin typeface="Calibri"/>
              </a:rPr>
              <a:t>Microbiology, full rheology and consumer acceptance are out of scope.</a:t>
            </a:r>
          </a:p>
        </p:txBody>
      </p:sp>
      <p:sp>
        <p:nvSpPr>
          <p:cNvPr id="15" name="Footer"/>
          <p:cNvSpPr txBox="1"/>
          <p:nvPr/>
        </p:nvSpPr>
        <p:spPr>
          <a:xfrm>
            <a:off x="731520" y="6236208"/>
            <a:ext cx="10957255" cy="310896"/>
          </a:xfrm>
          <a:prstGeom prst="rect">
            <a:avLst/>
          </a:prstGeom>
          <a:noFill/>
        </p:spPr>
        <p:txBody>
          <a:bodyPr wrap="square" lIns="109728" tIns="45720" rIns="109728" bIns="45720" anchor="t">
            <a:normAutofit/>
          </a:bodyPr>
          <a:lstStyle/>
          <a:p>
            <a:pPr algn="l">
              <a:buNone/>
            </a:pPr>
            <a:r>
              <a:rPr lang="en-US" sz="950" dirty="0">
                <a:solidFill>
                  <a:srgbClr val="5C6B62"/>
                </a:solidFill>
                <a:latin typeface="Calibri"/>
              </a:rPr>
              <a:t>Technostatic Wings  |  FormuSense  |  Problem Statement PS-1, Tiny Dot Foods          Slide 7 of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ormuSense">
  <a:themeElements>
    <a:clrScheme name="FormuSense">
      <a:dk1>
        <a:sysClr val="windowText" lastClr="000000"/>
      </a:dk1>
      <a:lt1>
        <a:sysClr val="window" lastClr="FFFFFF"/>
      </a:lt1>
      <a:dk2>
        <a:srgbClr val="172320"/>
      </a:dk2>
      <a:lt2>
        <a:srgbClr val="F4F7F4"/>
      </a:lt2>
      <a:accent1>
        <a:srgbClr val="1F7A4D"/>
      </a:accent1>
      <a:accent2>
        <a:srgbClr val="2E8B57"/>
      </a:accent2>
      <a:accent3>
        <a:srgbClr val="B26A00"/>
      </a:accent3>
      <a:accent4>
        <a:srgbClr val="B3261E"/>
      </a:accent4>
      <a:accent5>
        <a:srgbClr val="5C6B62"/>
      </a:accent5>
      <a:accent6>
        <a:srgbClr val="9AA8A0"/>
      </a:accent6>
      <a:hlink>
        <a:srgbClr val="1F7A4D"/>
      </a:hlink>
      <a:folHlink>
        <a:srgbClr val="5C6B62"/>
      </a:folHlink>
    </a:clrScheme>
    <a:fontScheme name="FormuSens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FormuSens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FormuSense, PS-1 presentation - Technostatic Wings</dc:title>
  <dc:creator>Raja Sethupathy, Guna M, Angel Brightlin A.</dc:creator>
  <dc:subject>Internship presentation (PS-1)</dc:subject>
  <cp:lastModifiedBy>Raja Sethupathy, Guna M, Angel Brightlin A.</cp:lastModifiedBy>
</cp:coreProperties>
</file>